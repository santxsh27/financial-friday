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8ec13a263c442d" /><Relationship Type="http://schemas.openxmlformats.org/officeDocument/2006/relationships/extended-properties" Target="/docProps/app.xml" Id="Rfadb3f98a02649cb" /><Relationship Type="http://schemas.openxmlformats.org/officeDocument/2006/relationships/officeDocument" Target="/ppt/presentation.xml" Id="R835ceeb1902a41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e051abc48a4154"/>
  </p:sldMasterIdLst>
  <p:notesMasterIdLst>
    <p:notesMasterId xmlns:r="http://schemas.openxmlformats.org/officeDocument/2006/relationships" r:id="R4e17db42df1549ad"/>
  </p:notesMasterIdLst>
  <p:sldIdLst>
    <p:sldId xmlns:r="http://schemas.openxmlformats.org/officeDocument/2006/relationships" id="256" r:id="R24756135275f4fd7"/>
    <p:sldId xmlns:r="http://schemas.openxmlformats.org/officeDocument/2006/relationships" id="257" r:id="Rae00bf37f76e4b6d"/>
    <p:sldId xmlns:r="http://schemas.openxmlformats.org/officeDocument/2006/relationships" id="258" r:id="R93a1bfc4661b4a0a"/>
    <p:sldId xmlns:r="http://schemas.openxmlformats.org/officeDocument/2006/relationships" id="259" r:id="R777ca9feb746403d"/>
    <p:sldId xmlns:r="http://schemas.openxmlformats.org/officeDocument/2006/relationships" id="260" r:id="R91aba699558e4635"/>
    <p:sldId xmlns:r="http://schemas.openxmlformats.org/officeDocument/2006/relationships" id="261" r:id="Rf1f003cad7184f01"/>
    <p:sldId xmlns:r="http://schemas.openxmlformats.org/officeDocument/2006/relationships" id="262" r:id="R3b913e38f9f04a73"/>
    <p:sldId xmlns:r="http://schemas.openxmlformats.org/officeDocument/2006/relationships" id="263" r:id="R79c37e51261c4c00"/>
    <p:sldId xmlns:r="http://schemas.openxmlformats.org/officeDocument/2006/relationships" id="264" r:id="R78cd15ae8a6c4103"/>
    <p:sldId xmlns:r="http://schemas.openxmlformats.org/officeDocument/2006/relationships" id="265" r:id="R205f76b92a6743c4"/>
    <p:sldId xmlns:r="http://schemas.openxmlformats.org/officeDocument/2006/relationships" id="266" r:id="Rcd713fb32e6e48e9"/>
    <p:sldId xmlns:r="http://schemas.openxmlformats.org/officeDocument/2006/relationships" id="267" r:id="R038c719cb4b0466b"/>
    <p:sldId xmlns:r="http://schemas.openxmlformats.org/officeDocument/2006/relationships" id="268" r:id="Ra7354d24469d466b"/>
    <p:sldId xmlns:r="http://schemas.openxmlformats.org/officeDocument/2006/relationships" id="269" r:id="R49d9032bd98a4878"/>
    <p:sldId xmlns:r="http://schemas.openxmlformats.org/officeDocument/2006/relationships" id="270" r:id="Rf8d3964442bd4edb"/>
    <p:sldId xmlns:r="http://schemas.openxmlformats.org/officeDocument/2006/relationships" id="271" r:id="R6412f0c4718042a3"/>
  </p:sldIdLst>
  <p:sldSz cx="9144000" cy="51435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cfdb8c3eef43b1" /><Relationship Type="http://schemas.openxmlformats.org/officeDocument/2006/relationships/slideMaster" Target="/ppt/slideMasters/slideMaster1.xml" Id="R1ae051abc48a4154" /><Relationship Type="http://schemas.openxmlformats.org/officeDocument/2006/relationships/notesMaster" Target="/ppt/notesMasters/notesMaster1.xml" Id="R4e17db42df1549ad" /><Relationship Type="http://schemas.openxmlformats.org/officeDocument/2006/relationships/presProps" Target="/ppt/presProps.xml" Id="R2edd8d3e72dd44ca" /><Relationship Type="http://schemas.openxmlformats.org/officeDocument/2006/relationships/viewProps" Target="/ppt/viewProps.xml" Id="R144238fb09a2450a" /><Relationship Type="http://schemas.openxmlformats.org/officeDocument/2006/relationships/tableStyles" Target="/ppt/tableStyles.xml" Id="R64ea4bbe9d644706" /><Relationship Type="http://schemas.openxmlformats.org/officeDocument/2006/relationships/slide" Target="/ppt/slides/slide1.xml" Id="R24756135275f4fd7" /><Relationship Type="http://schemas.openxmlformats.org/officeDocument/2006/relationships/slide" Target="/ppt/slides/slide2.xml" Id="Rae00bf37f76e4b6d" /><Relationship Type="http://schemas.openxmlformats.org/officeDocument/2006/relationships/slide" Target="/ppt/slides/slide3.xml" Id="R93a1bfc4661b4a0a" /><Relationship Type="http://schemas.openxmlformats.org/officeDocument/2006/relationships/slide" Target="/ppt/slides/slide4.xml" Id="R777ca9feb746403d" /><Relationship Type="http://schemas.openxmlformats.org/officeDocument/2006/relationships/slide" Target="/ppt/slides/slide5.xml" Id="R91aba699558e4635" /><Relationship Type="http://schemas.openxmlformats.org/officeDocument/2006/relationships/slide" Target="/ppt/slides/slide6.xml" Id="Rf1f003cad7184f01" /><Relationship Type="http://schemas.openxmlformats.org/officeDocument/2006/relationships/slide" Target="/ppt/slides/slide7.xml" Id="R3b913e38f9f04a73" /><Relationship Type="http://schemas.openxmlformats.org/officeDocument/2006/relationships/slide" Target="/ppt/slides/slide8.xml" Id="R79c37e51261c4c00" /><Relationship Type="http://schemas.openxmlformats.org/officeDocument/2006/relationships/slide" Target="/ppt/slides/slide9.xml" Id="R78cd15ae8a6c4103" /><Relationship Type="http://schemas.openxmlformats.org/officeDocument/2006/relationships/slide" Target="/ppt/slides/slide10.xml" Id="R205f76b92a6743c4" /><Relationship Type="http://schemas.openxmlformats.org/officeDocument/2006/relationships/slide" Target="/ppt/slides/slide11.xml" Id="Rcd713fb32e6e48e9" /><Relationship Type="http://schemas.openxmlformats.org/officeDocument/2006/relationships/slide" Target="/ppt/slides/slide12.xml" Id="R038c719cb4b0466b" /><Relationship Type="http://schemas.openxmlformats.org/officeDocument/2006/relationships/slide" Target="/ppt/slides/slide13.xml" Id="Ra7354d24469d466b" /><Relationship Type="http://schemas.openxmlformats.org/officeDocument/2006/relationships/slide" Target="/ppt/slides/slide14.xml" Id="R49d9032bd98a4878" /><Relationship Type="http://schemas.openxmlformats.org/officeDocument/2006/relationships/slide" Target="/ppt/slides/slide15.xml" Id="Rf8d3964442bd4edb" /><Relationship Type="http://schemas.openxmlformats.org/officeDocument/2006/relationships/slide" Target="/ppt/slides/slide16.xml" Id="R6412f0c4718042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edabccb4ba4e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3d296631da40f1" /><Relationship Type="http://schemas.openxmlformats.org/officeDocument/2006/relationships/notesMaster" Target="/ppt/notesMasters/notesMaster1.xml" Id="Rf72ef731b8194b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d6efe956e547fe" /><Relationship Type="http://schemas.openxmlformats.org/officeDocument/2006/relationships/notesMaster" Target="/ppt/notesMasters/notesMaster1.xml" Id="Rbbd416315d794f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92a13a1e67435b" /><Relationship Type="http://schemas.openxmlformats.org/officeDocument/2006/relationships/notesMaster" Target="/ppt/notesMasters/notesMaster1.xml" Id="R7bf9d972e0ba4d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01acb44b8846b2" /><Relationship Type="http://schemas.openxmlformats.org/officeDocument/2006/relationships/notesMaster" Target="/ppt/notesMasters/notesMaster1.xml" Id="Rbd1f5689eab444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ac4d9e964546f8" /><Relationship Type="http://schemas.openxmlformats.org/officeDocument/2006/relationships/notesMaster" Target="/ppt/notesMasters/notesMaster1.xml" Id="Reae3fe5713234b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5af2cf64aa48ca" /><Relationship Type="http://schemas.openxmlformats.org/officeDocument/2006/relationships/notesMaster" Target="/ppt/notesMasters/notesMaster1.xml" Id="R54cb1f37889441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1c9757b28642bc" /><Relationship Type="http://schemas.openxmlformats.org/officeDocument/2006/relationships/notesMaster" Target="/ppt/notesMasters/notesMaster1.xml" Id="R13d809eeb8fd4e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eaae53515e4d0b" /><Relationship Type="http://schemas.openxmlformats.org/officeDocument/2006/relationships/notesMaster" Target="/ppt/notesMasters/notesMaster1.xml" Id="R9dd00c53ff3f47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6cf604ef0b4ff3" /><Relationship Type="http://schemas.openxmlformats.org/officeDocument/2006/relationships/notesMaster" Target="/ppt/notesMasters/notesMaster1.xml" Id="Rd5f887e4362940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31adaf74174b8e" /><Relationship Type="http://schemas.openxmlformats.org/officeDocument/2006/relationships/notesMaster" Target="/ppt/notesMasters/notesMaster1.xml" Id="R32b4609eab6244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f9700f0d1d04f09" /><Relationship Type="http://schemas.openxmlformats.org/officeDocument/2006/relationships/notesMaster" Target="/ppt/notesMasters/notesMaster1.xml" Id="R210f400236aa40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01ddbc8123443d4" /><Relationship Type="http://schemas.openxmlformats.org/officeDocument/2006/relationships/notesMaster" Target="/ppt/notesMasters/notesMaster1.xml" Id="R7c836c83fce3458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e9722f9d2a74050" /><Relationship Type="http://schemas.openxmlformats.org/officeDocument/2006/relationships/notesMaster" Target="/ppt/notesMasters/notesMaster1.xml" Id="R7a2f0d59c2b34e8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d1519339aa0495f" /><Relationship Type="http://schemas.openxmlformats.org/officeDocument/2006/relationships/notesMaster" Target="/ppt/notesMasters/notesMaster1.xml" Id="R8ecef3a68c3e426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1b942df720d47aa" /><Relationship Type="http://schemas.openxmlformats.org/officeDocument/2006/relationships/notesMaster" Target="/ppt/notesMasters/notesMaster1.xml" Id="Ra1853e95f37341b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58818dd50374a3d" /><Relationship Type="http://schemas.openxmlformats.org/officeDocument/2006/relationships/notesMaster" Target="/ppt/notesMasters/notesMaster1.xml" Id="R90d0317b22ca4f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Financial Friday v0.39.0. Source: https://github.com/Santxsh27/financial-friday/blob/main/README.md ; release evidence: https://github.com/Santxsh27/financial-friday/blob/main/docs/CURRENT_RELEASE.json ; https://github.com/Santxsh27/financial-friday/blob/main/docs/FINAL_POLISH_0390.md . Evidence checked 18 October 2026. All displayed financial examples are artificial. No bank integration or guaranteed financial outcome.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Registered team name must match the final Hack2skill roster. Project title and team name are separate.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Financial Friday v0.39.0. Source: https://github.com/Santxsh27/financial-friday/blob/main/README.md ; release evidence: https://github.com/Santxsh27/financial-friday/blob/main/docs/CURRENT_RELEASE.json ; https://github.com/Santxsh27/financial-friday/blob/main/docs/FINAL_POLISH_0390.md . Evidence checked 18 October 2026. All displayed financial examples are artificial. No bank integration or guaranteed financial outcome.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Official template instruction retained. The organiser master remains unchanged.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Financial Friday v0.39.0. Source: https://github.com/Santxsh27/financial-friday/blob/main/README.md ; release evidence: https://github.com/Santxsh27/financial-friday/blob/main/docs/CURRENT_RELEASE.json ; https://github.com/Santxsh27/financial-friday/blob/main/docs/FINAL_POLISH_0390.md . Evidence checked 18 October 2026. All displayed financial examples are artificial. No bank integration or guaranteed financial outcome.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Financial Friday v0.39.0. Source: https://github.com/Santxsh27/financial-friday/blob/main/README.md ; release evidence: https://github.com/Santxsh27/financial-friday/blob/main/docs/CURRENT_RELEASE.json ; https://github.com/Santxsh27/financial-friday/blob/main/docs/FINAL_POLISH_0390.md . Evidence checked 18 October 2026. All displayed financial examples are artificial. No bank integration or guaranteed financial outcome.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Financial Friday v0.39.0. Source: https://github.com/Santxsh27/financial-friday/blob/main/README.md ; release evidence: https://github.com/Santxsh27/financial-friday/blob/main/docs/CURRENT_RELEASE.json ; https://github.com/Santxsh27/financial-friday/blob/main/docs/FINAL_POLISH_0390.md . Evidence checked 18 October 2026. All displayed financial examples are artificial. No bank integration or guaranteed financial outcome.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Financial Friday v0.39.0. Source: https://github.com/Santxsh27/financial-friday/blob/main/README.md ; release evidence: https://github.com/Santxsh27/financial-friday/blob/main/docs/CURRENT_RELEASE.json ; https://github.com/Santxsh27/financial-friday/blob/main/docs/FINAL_POLISH_0390.md . Evidence checked 18 October 2026. All displayed financial examples are artificial. No bank integration or guaranteed financial outcome.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Financial Friday v0.39.0. Source: https://github.com/Santxsh27/financial-friday/blob/main/README.md ; release evidence: https://github.com/Santxsh27/financial-friday/blob/main/docs/CURRENT_RELEASE.json ; https://github.com/Santxsh27/financial-friday/blob/main/docs/FINAL_POLISH_0390.md . Evidence checked 18 October 2026. All displayed financial examples are artificial. No bank integration or guaranteed financial outcome.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Screenshot: docs/images and local 0.39.0 demonstration, artificial data. This is an implemented screen, not a proposed mockup.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Financial Friday v0.39.0. Source: https://github.com/Santxsh27/financial-friday/blob/main/README.md ; release evidence: https://github.com/Santxsh27/financial-friday/blob/main/docs/CURRENT_RELEASE.json ; https://github.com/Santxsh27/financial-friday/blob/main/docs/FINAL_POLISH_0390.md . Evidence checked 18 October 2026. All displayed financial examples are artificial. No bank integration or guaranteed financial outcome.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Architecture: https://github.com/Santxsh27/financial-friday/blob/main/ARCHITECTURE_GUIDE.md . Cloud Tasks is a separate legacy journal-only recovery path, outside this consumer diagram. Firebase is not used.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Financial Friday v0.39.0. Source: https://github.com/Santxsh27/financial-friday/blob/main/README.md ; release evidence: https://github.com/Santxsh27/financial-friday/blob/main/docs/CURRENT_RELEASE.json ; https://github.com/Santxsh27/financial-friday/blob/main/docs/FINAL_POLISH_0390.md . Evidence checked 18 October 2026. All displayed financial examples are artificial. No bank integration or guaranteed financial outcome.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Configured runtime: gemini-3.5-flash-lite, Gemini TTS gemini-2.5-flash-tts. Model availability and trial quota remain operational dependencies.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Financial Friday v0.39.0. Source: https://github.com/Santxsh27/financial-friday/blob/main/README.md ; release evidence: https://github.com/Santxsh27/financial-friday/blob/main/docs/CURRENT_RELEASE.json ; https://github.com/Santxsh27/financial-friday/blob/main/docs/FINAL_POLISH_0390.md . Evidence checked 18 October 2026. All displayed financial examples are artificial. No bank integration or guaranteed financial outcome.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This optional cost section gives the cost model and implemented controls, not a provider quote. Current provider pricing must be checked before a production budget. No billing data or private credit balance is disclosed.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Financial Friday v0.39.0. Source: https://github.com/Santxsh27/financial-friday/blob/main/README.md ; release evidence: https://github.com/Santxsh27/financial-friday/blob/main/docs/CURRENT_RELEASE.json ; https://github.com/Santxsh27/financial-friday/blob/main/docs/FINAL_POLISH_0390.md . Evidence checked 18 October 2026. All displayed financial examples are artificial. No bank integration or guaranteed financial outcome.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Example inputs: monthly income INR50000, living costs excluding debt INR30000, debt INR0, liquid savings INR70000, protected reserve INR50000. Goal INR120000 in12months. Integer paise arithmetic rounds the monthly step upward. Sources: judge-kit/README.md and docs/FINAL_POLISH_0390.md.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Financial Friday v0.39.0. Source: https://github.com/Santxsh27/financial-friday/blob/main/README.md ; release evidence: https://github.com/Santxsh27/financial-friday/blob/main/docs/CURRENT_RELEASE.json ; https://github.com/Santxsh27/financial-friday/blob/main/docs/FINAL_POLISH_0390.md . Evidence checked 18 October 2026. All displayed financial examples are artificial. No bank integration or guaranteed financial outcome.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Counts are v0.39.0 release evidence. The 39-case dataset is authored synthetic review-candidate ground truth, not independently validated fraud labels. FPR is case-level. Eight isolated acceptance calls are additional to a canonical general-question and TTS browser check. Do not infer product accuracy from test counts.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Financial Friday v0.39.0. Source: https://github.com/Santxsh27/financial-friday/blob/main/README.md ; release evidence: https://github.com/Santxsh27/financial-friday/blob/main/docs/CURRENT_RELEASE.json ; https://github.com/Santxsh27/financial-friday/blob/main/docs/FINAL_POLISH_0390.md . Evidence checked 18 October 2026. All displayed financial examples are artificial. No bank integration or guaranteed financial outcome.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Financial Friday v0.39.0. Source: https://github.com/Santxsh27/financial-friday/blob/main/README.md ; release evidence: https://github.com/Santxsh27/financial-friday/blob/main/docs/CURRENT_RELEASE.json ; https://github.com/Santxsh27/financial-friday/blob/main/docs/FINAL_POLISH_0390.md . Evidence checked 18 October 2026. All displayed financial examples are artificial. No bank integration or guaranteed financial outcome.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participant is creating the video separately. The dashboard supplied on18October requires3–4minutes and takes precedence over the older3-minute template label. Add the final public videoURL here before the final submission if available. Official requirements: https://aibuildercup.com/themes.html 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Financial Friday v0.39.0. Source: https://github.com/Santxsh27/financial-friday/blob/main/README.md ; release evidence: https://github.com/Santxsh27/financial-friday/blob/main/docs/CURRENT_RELEASE.json ; https://github.com/Santxsh27/financial-friday/blob/main/docs/FINAL_POLISH_0390.md . Evidence checked 18 October 2026. All displayed financial examples are artificial. No bank integration or guaranteed financial outcome.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Judge guide https://financial-friday-web-171681243260.asia-south1.run.app/assets/friday-judge-guide.html . Public samples https://github.com/Santxsh27/financial-friday/tree/main/judge-kit . Sample sha and controls appear in judge-kit/manifest.json.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Financial Friday v0.39.0. Source: https://github.com/Santxsh27/financial-friday/blob/main/README.md ; release evidence: https://github.com/Santxsh27/financial-friday/blob/main/docs/CURRENT_RELEASE.json ; https://github.com/Santxsh27/financial-friday/blob/main/docs/FINAL_POLISH_0390.md . Evidence checked 18 October 2026. All displayed financial examples are artificial. No bank integration or guaranteed financial outcome.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4adc31e8ac42a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e9b658b0334a3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ff5711d12b400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a1266801224c7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f37516aa43479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2fa0ba6db643e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6df2370bd84c1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094f89c1e6440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ed5c81ba104f6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94eadb098a455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846c218ae1412a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1758CB06-150F-4056-AD51-6AAA5E85D174}"/>
              </a:ext>
            </a:extLst>
          </p:cNvPr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AADE221E-A460-4A3D-BFA3-9B42D569216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20645393-05B5-4455-8452-732AE223EB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7B65CD2D-2CFE-4233-ABD2-DFB9C131FBFB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9AD4E5EF-B54B-442D-8501-903A770DCF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 type="tx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92FDA42B-3A54-4829-AA78-170BE8A60213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ABB5A5B9-5B18-4AFF-8DD8-D7E26176F8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3CD27DC8-0758-4DB6-98FD-E540CF29AB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 type="twoColTx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BDED9EC1-A381-47A0-AA21-4150D1204940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3556C3D6-DE3A-4844-AACC-3EEFBECF81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D937BE37-28A2-46AD-B9E2-4919AC8199D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39A4E475-4FC0-4A74-812F-BCA6A0D470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1F882063-9C96-4B2E-907A-48E926BE2FC0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DFC0E5E0-7B42-4B2F-8AB6-A22250EFFA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15123CA7-5256-46EB-A850-437645CFBA01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04569416-24E1-4600-83B0-9A4ABE94E4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037248C8-CCA5-4CEA-B4D3-18DB751ACD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E2633E06-753B-4DA3-8D62-07CE0253787E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F1BD41E9-5067-45A8-9D87-C11C0E6D78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AB7A6285-A83B-4419-8435-E8627C6F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B347CCF6-ED9C-4DC6-9AE3-B3A23A2C3317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C6555059-27E2-48F2-BCF9-1179A34F04F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299CC320-FD3E-4A25-8120-DAA1C8F8E3D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0EFB2C06-207A-465F-958D-F11957DC3C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10494E5A-5F02-4CFC-859A-A6B99C8817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FECDD505-7A8D-4B73-815E-84280C7629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1D26E2DE-C260-4A9F-BAC0-56EE4DCE39C5}"/>
              </a:ext>
            </a:extLst>
          </p:cNvPr>
          <p:cNvSpPr>
            <a:spLocks xmlns:a="http://schemas.openxmlformats.org/drawingml/2006/main" noGrp="1"/>
          </p:cNvSpPr>
          <p:nvPr>
            <p:ph type="title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87447B44-BBBD-4F15-A204-D2F1851863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17BCBB2E-D24B-42CE-8250-079D332537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B3771183-6119-4AAB-91FC-B569980FF3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908c04f0da4a30" /><Relationship Type="http://schemas.openxmlformats.org/officeDocument/2006/relationships/slideLayout" Target="/ppt/slideLayouts/slideLayout1.xml" Id="R5680108837bb400e" /><Relationship Type="http://schemas.openxmlformats.org/officeDocument/2006/relationships/slideLayout" Target="/ppt/slideLayouts/slideLayout2.xml" Id="R06132917945a43aa" /><Relationship Type="http://schemas.openxmlformats.org/officeDocument/2006/relationships/slideLayout" Target="/ppt/slideLayouts/slideLayout3.xml" Id="R0146455d819f4cdb" /><Relationship Type="http://schemas.openxmlformats.org/officeDocument/2006/relationships/slideLayout" Target="/ppt/slideLayouts/slideLayout4.xml" Id="R5800a0357c474e9e" /><Relationship Type="http://schemas.openxmlformats.org/officeDocument/2006/relationships/slideLayout" Target="/ppt/slideLayouts/slideLayout5.xml" Id="R183b5e80cb6149d0" /><Relationship Type="http://schemas.openxmlformats.org/officeDocument/2006/relationships/slideLayout" Target="/ppt/slideLayouts/slideLayout6.xml" Id="R0968c25d588c4dd6" /><Relationship Type="http://schemas.openxmlformats.org/officeDocument/2006/relationships/slideLayout" Target="/ppt/slideLayouts/slideLayout7.xml" Id="Re443237a18284355" /><Relationship Type="http://schemas.openxmlformats.org/officeDocument/2006/relationships/slideLayout" Target="/ppt/slideLayouts/slideLayout8.xml" Id="R764be296915a4024" /><Relationship Type="http://schemas.openxmlformats.org/officeDocument/2006/relationships/slideLayout" Target="/ppt/slideLayouts/slideLayout9.xml" Id="Rdf4966de340b41d4" /><Relationship Type="http://schemas.openxmlformats.org/officeDocument/2006/relationships/slideLayout" Target="/ppt/slideLayouts/slideLayout10.xml" Id="Ra165bb629aad46a1" /><Relationship Type="http://schemas.openxmlformats.org/officeDocument/2006/relationships/slideLayout" Target="/ppt/slideLayouts/slideLayout11.xml" Id="R51795fccd3234c88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732F8306-F31E-4657-905D-20F3518A8805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FF1849E6-67EF-4FE3-B011-36C6CCFFBE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1FE367D2-E7C6-4040-94F0-62A9E6E6BD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80108837bb400e"/>
    <p:sldLayoutId xmlns:r="http://schemas.openxmlformats.org/officeDocument/2006/relationships" id="2147483650" r:id="R06132917945a43aa"/>
    <p:sldLayoutId xmlns:r="http://schemas.openxmlformats.org/officeDocument/2006/relationships" id="2147483651" r:id="R0146455d819f4cdb"/>
    <p:sldLayoutId xmlns:r="http://schemas.openxmlformats.org/officeDocument/2006/relationships" id="2147483652" r:id="R5800a0357c474e9e"/>
    <p:sldLayoutId xmlns:r="http://schemas.openxmlformats.org/officeDocument/2006/relationships" id="2147483653" r:id="R183b5e80cb6149d0"/>
    <p:sldLayoutId xmlns:r="http://schemas.openxmlformats.org/officeDocument/2006/relationships" id="2147483654" r:id="R0968c25d588c4dd6"/>
    <p:sldLayoutId xmlns:r="http://schemas.openxmlformats.org/officeDocument/2006/relationships" id="2147483655" r:id="Re443237a18284355"/>
    <p:sldLayoutId xmlns:r="http://schemas.openxmlformats.org/officeDocument/2006/relationships" id="2147483656" r:id="R764be296915a4024"/>
    <p:sldLayoutId xmlns:r="http://schemas.openxmlformats.org/officeDocument/2006/relationships" id="2147483657" r:id="Rdf4966de340b41d4"/>
    <p:sldLayoutId xmlns:r="http://schemas.openxmlformats.org/officeDocument/2006/relationships" id="2147483658" r:id="Ra165bb629aad46a1"/>
    <p:sldLayoutId xmlns:r="http://schemas.openxmlformats.org/officeDocument/2006/relationships" id="2147483659" r:id="R51795fccd3234c88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360a974e9401c" /><Relationship Type="http://schemas.openxmlformats.org/officeDocument/2006/relationships/image" Target="/ppt/media/image.png" Id="R8acad5baa6c24dc3" /><Relationship Type="http://schemas.openxmlformats.org/officeDocument/2006/relationships/image" Target="/ppt/media/image2.png" Id="R2b3961188cb64d1d" /><Relationship Type="http://schemas.openxmlformats.org/officeDocument/2006/relationships/notesSlide" Target="/ppt/notesSlides/notesSlide1.xml" Id="Rf701fc6d6c4847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2b963b7f34ef1" /><Relationship Type="http://schemas.openxmlformats.org/officeDocument/2006/relationships/image" Target="/ppt/media/image2.png" Id="R1b15c1c0dea645ae" /><Relationship Type="http://schemas.openxmlformats.org/officeDocument/2006/relationships/image" Target="/ppt/media/image3.png" Id="Rc5b5a64f090248c0" /><Relationship Type="http://schemas.openxmlformats.org/officeDocument/2006/relationships/notesSlide" Target="/ppt/notesSlides/notesSlide2.xml" Id="R8e40bcbb5d894c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fb65d799a4adf" /><Relationship Type="http://schemas.openxmlformats.org/officeDocument/2006/relationships/image" Target="/ppt/media/image4.png" Id="Re9ef2acb7e6f48d5" /><Relationship Type="http://schemas.openxmlformats.org/officeDocument/2006/relationships/image" Target="/ppt/media/image5.png" Id="R6d3dadb7f30c47b8" /><Relationship Type="http://schemas.openxmlformats.org/officeDocument/2006/relationships/notesSlide" Target="/ppt/notesSlides/notesSlide3.xml" Id="R3dab7073810745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c6e1ca5834915" /><Relationship Type="http://schemas.openxmlformats.org/officeDocument/2006/relationships/image" Target="/ppt/media/image2.png" Id="R45a648da2b1d4aae" /><Relationship Type="http://schemas.openxmlformats.org/officeDocument/2006/relationships/image" Target="/ppt/media/image4.png" Id="Rc371b0b000274c64" /><Relationship Type="http://schemas.openxmlformats.org/officeDocument/2006/relationships/notesSlide" Target="/ppt/notesSlides/notesSlide4.xml" Id="Rfd969c8aa03d4c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0f306db5f4453" /><Relationship Type="http://schemas.openxmlformats.org/officeDocument/2006/relationships/image" Target="/ppt/media/image2.png" Id="R93f053c542d140d9" /><Relationship Type="http://schemas.openxmlformats.org/officeDocument/2006/relationships/image" Target="/ppt/media/image4.png" Id="Rde6d4b1af24f43fc" /><Relationship Type="http://schemas.openxmlformats.org/officeDocument/2006/relationships/notesSlide" Target="/ppt/notesSlides/notesSlide5.xml" Id="Rbb4088e90f0c4f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36046fce049d3" /><Relationship Type="http://schemas.openxmlformats.org/officeDocument/2006/relationships/image" Target="/ppt/media/image2.png" Id="Re8d93fb4f0d04567" /><Relationship Type="http://schemas.openxmlformats.org/officeDocument/2006/relationships/image" Target="/ppt/media/image4.png" Id="Rcfb6a3a4d7ea4a0e" /><Relationship Type="http://schemas.openxmlformats.org/officeDocument/2006/relationships/notesSlide" Target="/ppt/notesSlides/notesSlide6.xml" Id="R6be1bbdcbb0b41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db4cc84ff490a" /><Relationship Type="http://schemas.openxmlformats.org/officeDocument/2006/relationships/image" Target="/ppt/media/image2.png" Id="Rc9199b30bea74473" /><Relationship Type="http://schemas.openxmlformats.org/officeDocument/2006/relationships/image" Target="/ppt/media/image4.png" Id="R0abd3fb2b8044464" /><Relationship Type="http://schemas.openxmlformats.org/officeDocument/2006/relationships/image" Target="/ppt/media/image.jpeg" Id="R9d32dfc9d59c428a" /><Relationship Type="http://schemas.openxmlformats.org/officeDocument/2006/relationships/notesSlide" Target="/ppt/notesSlides/notesSlide7.xml" Id="Ra88e97d9f26347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a557d16a14d07" /><Relationship Type="http://schemas.openxmlformats.org/officeDocument/2006/relationships/image" Target="/ppt/media/image2.png" Id="R1270fe895fe44e86" /><Relationship Type="http://schemas.openxmlformats.org/officeDocument/2006/relationships/image" Target="/ppt/media/image4.png" Id="Re53e21999c404bfa" /><Relationship Type="http://schemas.openxmlformats.org/officeDocument/2006/relationships/notesSlide" Target="/ppt/notesSlides/notesSlide8.xml" Id="R23c3ffb131f147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3fa2b59b04760" /><Relationship Type="http://schemas.openxmlformats.org/officeDocument/2006/relationships/image" Target="/ppt/media/image2.png" Id="Ra73029c09153451b" /><Relationship Type="http://schemas.openxmlformats.org/officeDocument/2006/relationships/image" Target="/ppt/media/image4.png" Id="R2c002b9857d046cf" /><Relationship Type="http://schemas.openxmlformats.org/officeDocument/2006/relationships/notesSlide" Target="/ppt/notesSlides/notesSlide9.xml" Id="R83ba1c09ee784a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e1eb82b11498c" /><Relationship Type="http://schemas.openxmlformats.org/officeDocument/2006/relationships/image" Target="/ppt/media/image2.png" Id="R7b44e44cd16e417e" /><Relationship Type="http://schemas.openxmlformats.org/officeDocument/2006/relationships/image" Target="/ppt/media/image4.png" Id="R727707cacceb482d" /><Relationship Type="http://schemas.openxmlformats.org/officeDocument/2006/relationships/notesSlide" Target="/ppt/notesSlides/notesSlide10.xml" Id="R9a5dc59a3cf940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601f4fab94ec6" /><Relationship Type="http://schemas.openxmlformats.org/officeDocument/2006/relationships/image" Target="/ppt/media/image2.png" Id="Rb084f2bb1d6841f2" /><Relationship Type="http://schemas.openxmlformats.org/officeDocument/2006/relationships/image" Target="/ppt/media/image4.png" Id="R143d0a1e6e2a4b25" /><Relationship Type="http://schemas.openxmlformats.org/officeDocument/2006/relationships/image" Target="/ppt/media/image2.jpeg" Id="Rf3dc652c5b9b42c0" /><Relationship Type="http://schemas.openxmlformats.org/officeDocument/2006/relationships/notesSlide" Target="/ppt/notesSlides/notesSlide11.xml" Id="R05fe888271c949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fd4169c3e4cd5" /><Relationship Type="http://schemas.openxmlformats.org/officeDocument/2006/relationships/image" Target="/ppt/media/image2.png" Id="R3c1ba07653ac4e43" /><Relationship Type="http://schemas.openxmlformats.org/officeDocument/2006/relationships/image" Target="/ppt/media/image4.png" Id="R1ee6bbc52a234c7d" /><Relationship Type="http://schemas.openxmlformats.org/officeDocument/2006/relationships/notesSlide" Target="/ppt/notesSlides/notesSlide12.xml" Id="R52933a93adc249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3c07acf0f4120" /><Relationship Type="http://schemas.openxmlformats.org/officeDocument/2006/relationships/image" Target="/ppt/media/image2.png" Id="R7a6e21f3a53a4498" /><Relationship Type="http://schemas.openxmlformats.org/officeDocument/2006/relationships/image" Target="/ppt/media/image4.png" Id="R84c633dc7a3b4017" /><Relationship Type="http://schemas.openxmlformats.org/officeDocument/2006/relationships/notesSlide" Target="/ppt/notesSlides/notesSlide13.xml" Id="Rfdeb0ddf7944495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e08d1cd984a13" /><Relationship Type="http://schemas.openxmlformats.org/officeDocument/2006/relationships/image" Target="/ppt/media/image2.png" Id="R303dbce5123444e6" /><Relationship Type="http://schemas.openxmlformats.org/officeDocument/2006/relationships/image" Target="/ppt/media/image4.png" Id="R81e721b813ee4e40" /><Relationship Type="http://schemas.openxmlformats.org/officeDocument/2006/relationships/hyperlink" Target="https://github.com/Santxsh27/financial-friday" TargetMode="External" Id="R1d4cbcca4fa64a36" /><Relationship Type="http://schemas.openxmlformats.org/officeDocument/2006/relationships/hyperlink" Target="https://financial-friday-web-171681243260.asia-south1.run.app/#home" TargetMode="External" Id="R28ffb8c99a0e4635" /><Relationship Type="http://schemas.openxmlformats.org/officeDocument/2006/relationships/hyperlink" Target="https://financial-friday-web-171681243260.asia-south1.run.app/assets/friday-judge-guide.html" TargetMode="External" Id="R1620c48a98744e60" /><Relationship Type="http://schemas.openxmlformats.org/officeDocument/2006/relationships/notesSlide" Target="/ppt/notesSlides/notesSlide14.xml" Id="R04c5ffbc92e7447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65db481e741ef" /><Relationship Type="http://schemas.openxmlformats.org/officeDocument/2006/relationships/image" Target="/ppt/media/image2.png" Id="R2582dbfa8033429e" /><Relationship Type="http://schemas.openxmlformats.org/officeDocument/2006/relationships/image" Target="/ppt/media/image4.png" Id="R5ec8f29d6ba1422c" /><Relationship Type="http://schemas.openxmlformats.org/officeDocument/2006/relationships/notesSlide" Target="/ppt/notesSlides/notesSlide15.xml" Id="Rb4a5bb08e4bd449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c07eb46644533" /><Relationship Type="http://schemas.openxmlformats.org/officeDocument/2006/relationships/image" Target="/ppt/media/image2.png" Id="R064cc2191d6145c1" /><Relationship Type="http://schemas.openxmlformats.org/officeDocument/2006/relationships/image" Target="/ppt/media/image6.png" Id="R328a6aa6e43f41d2" /><Relationship Type="http://schemas.openxmlformats.org/officeDocument/2006/relationships/notesSlide" Target="/ppt/notesSlides/notesSlide16.xml" Id="Rb7fa062f7b4443e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13">
            <a:extLst xmlns:a="http://schemas.openxmlformats.org/drawingml/2006/main">
              <a:ext uri="{FF2B5EF4-FFF2-40B4-BE49-F238E27FC236}">
                <a16:creationId xmlns:a16="http://schemas.microsoft.com/office/drawing/2014/main" id="{B4B81E3E-C538-4580-8A05-111E6473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886075"/>
            <a:ext cx="86296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spcAft>
                <a:spcPts val="1400"/>
              </a:spcAft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Team Details</a:t>
            </a:r>
          </a:p>
          <a:p xmlns:a="http://schemas.openxmlformats.org/drawingml/2006/main"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Team name: Vaultkeepers</a:t>
            </a:r>
          </a:p>
          <a:p xmlns:a="http://schemas.openxmlformats.org/drawingml/2006/main"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Team leader name: Santosh Ramesh</a:t>
            </a:r>
          </a:p>
          <a:p xmlns:a="http://schemas.openxmlformats.org/drawingml/2006/main"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Problem Statement: BFSI: Intelligent Risk, Fraud &amp; Financial Experiences</a:t>
            </a:r>
          </a:p>
          <a:p xmlns:a="http://schemas.openxmlformats.org/drawingml/2006/main">
            <a: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Solution: Financial Friday</a:t>
            </a:r>
          </a:p>
        </p:txBody>
      </p:sp>
      <p:pic>
        <p:nvPic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7F2AD657-8E9E-4B74-9D74-9FEBA8A29B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cad5baa6c24dc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3"/>
            <a:ext cx="9144000" cy="27155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6" name="Google Shape;56;p13">
            <a:extLst xmlns:a="http://schemas.openxmlformats.org/drawingml/2006/main">
              <a:ext uri="{FF2B5EF4-FFF2-40B4-BE49-F238E27FC236}">
                <a16:creationId xmlns:a16="http://schemas.microsoft.com/office/drawing/2014/main" id="{E31463E0-43C2-4AB2-96F2-B491C58A61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b3961188cb64d1d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3404588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Google Shape;61;p14">
            <a:extLst xmlns:a="http://schemas.openxmlformats.org/drawingml/2006/main">
              <a:ext uri="{FF2B5EF4-FFF2-40B4-BE49-F238E27FC236}">
                <a16:creationId xmlns:a16="http://schemas.microsoft.com/office/drawing/2014/main" id="{5BB6A2CD-A25D-4216-8E47-4218AE6659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b15c1c0dea645ae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2" name="Google Shape;62;p14">
            <a:extLst xmlns:a="http://schemas.openxmlformats.org/drawingml/2006/main">
              <a:ext uri="{FF2B5EF4-FFF2-40B4-BE49-F238E27FC236}">
                <a16:creationId xmlns:a16="http://schemas.microsoft.com/office/drawing/2014/main" id="{D4E1ACDA-513E-468D-AFDB-8AFAD56B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>
            <a:extLst xmlns:a="http://schemas.openxmlformats.org/drawingml/2006/main">
              <a:ext uri="{FF2B5EF4-FFF2-40B4-BE49-F238E27FC236}">
                <a16:creationId xmlns:a16="http://schemas.microsoft.com/office/drawing/2014/main" id="{6F7DAA71-CF54-488C-AFEA-2D9310D8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475" y="1968750"/>
            <a:ext cx="3311400" cy="120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</a:rPr>
              <a:t>Note:</a:t>
            </a:r>
            <a:r>
              <a:rPr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  <a:t> Please download this template to make your edits and submit the final version.</a:t>
            </a:r>
            <a:br>
              <a:rPr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</a:br>
            <a:br>
              <a:rPr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</a:br>
            <a:r>
              <a:rPr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</p:txBody>
      </p:sp>
      <p:pic>
        <p:nvPicPr>
          <p:cNvPr id="64" name="Google Shape;64;p14">
            <a:extLst xmlns:a="http://schemas.openxmlformats.org/drawingml/2006/main">
              <a:ext uri="{FF2B5EF4-FFF2-40B4-BE49-F238E27FC236}">
                <a16:creationId xmlns:a16="http://schemas.microsoft.com/office/drawing/2014/main" id="{3C4BC159-F875-47C7-99B4-3B73AA9323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5a64f090248c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4203" y="1194675"/>
            <a:ext cx="3604250" cy="26217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  <a:effectLst xmlns:a="http://schemas.openxmlformats.org/drawingml/2006/main">
            <a:outerShdw blurRad="971550" dist="19050" dir="5400000" algn="bl" rotWithShape="0">
              <a:schemeClr val="lt1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708715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9" name="Google Shape;69;p15">
            <a:extLst xmlns:a="http://schemas.openxmlformats.org/drawingml/2006/main">
              <a:ext uri="{FF2B5EF4-FFF2-40B4-BE49-F238E27FC236}">
                <a16:creationId xmlns:a16="http://schemas.microsoft.com/office/drawing/2014/main" id="{1426E7A7-D38B-42C0-9716-90E78086A5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ef2acb7e6f48d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0D377E49-BF76-4F6B-85EC-085754B2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1872"/>
            <a:ext cx="9144000" cy="716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>
            <a:extLst xmlns:a="http://schemas.openxmlformats.org/drawingml/2006/main">
              <a:ext uri="{FF2B5EF4-FFF2-40B4-BE49-F238E27FC236}">
                <a16:creationId xmlns:a16="http://schemas.microsoft.com/office/drawing/2014/main" id="{B24CDA3D-528F-4843-B405-DDFE0FDB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10600" cy="5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D55FB5C-0A96-4747-BDE8-00888B73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04925"/>
            <a:ext cx="5524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17182A"/>
                </a:solidFill>
                <a:latin typeface="Google Sans Flex SemiBold"/>
                <a:ea typeface="Google Sans Flex SemiBold"/>
                <a:cs typeface="Google Sans Flex SemiBold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182A"/>
                </a:solidFill>
                <a:latin typeface="Google Sans Flex SemiBold"/>
                <a:ea typeface="Google Sans Flex SemiBold"/>
                <a:cs typeface="Google Sans Flex SemiBold"/>
              </a:defRPr>
            </a:pPr>
            <a:r>
              <a:rPr sz="2550" b="0">
                <a:solidFill>
                  <a:srgbClr val="17182A"/>
                </a:solidFill>
                <a:latin typeface="Google Sans Flex SemiBold"/>
                <a:ea typeface="Google Sans Flex SemiBold"/>
                <a:cs typeface="Google Sans Flex SemiBold"/>
              </a:rPr>
              <a:t>Financial Friday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C8EACAC-85B5-4DF3-80DB-783668CF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885950"/>
            <a:ext cx="5381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7182A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182A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950" b="0">
                <a:solidFill>
                  <a:srgbClr val="17182A"/>
                </a:solidFill>
                <a:latin typeface="Google Sans Flex"/>
                <a:ea typeface="Google Sans Flex"/>
                <a:cs typeface="Google Sans Flex"/>
              </a:rPr>
              <a:t>A financial buddy that turns statement history into a plan you can follow.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A38490E-604D-4D54-82DE-B3CAB434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790825"/>
            <a:ext cx="5381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rPr>
              <a:t>People can see past transactions, yet still struggle to decide what they can afford next. Friday connects reviewed history to a conversation about their next goal.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FFB0A61-5899-4146-94EB-0037443F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95725"/>
            <a:ext cx="5334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844BB"/>
                </a:solidFill>
                <a:latin typeface="Google Sans Flex SemiBold"/>
                <a:ea typeface="Google Sans Flex SemiBold"/>
                <a:cs typeface="Google Sans Flex SemiBold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4BB"/>
                </a:solidFill>
                <a:latin typeface="Google Sans Flex SemiBold"/>
                <a:ea typeface="Google Sans Flex SemiBold"/>
                <a:cs typeface="Google Sans Flex SemiBold"/>
              </a:defRPr>
            </a:pPr>
            <a:r>
              <a:rPr sz="1650" b="0">
                <a:solidFill>
                  <a:srgbClr val="6844BB"/>
                </a:solidFill>
                <a:latin typeface="Google Sans Flex SemiBold"/>
                <a:ea typeface="Google Sans Flex SemiBold"/>
                <a:cs typeface="Google Sans Flex SemiBold"/>
              </a:rPr>
              <a:t>Reviewed history and a confirmed budget support a visual roadmap with clear assumptions.</a:t>
            </a:r>
          </a:p>
        </p:txBody>
      </p:sp>
      <p:pic>
        <p:nvPic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0A4AD23-7AB7-44C0-BD04-15CBAC41BC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3dadb7f30c47b8"/>
          <a:stretch xmlns:a="http://schemas.openxmlformats.org/drawingml/2006/main"/>
        </p:blipFill>
        <p:spPr>
          <a:xfrm xmlns:a="http://schemas.openxmlformats.org/drawingml/2006/main">
            <a:off x="6143625" y="1666875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3328776-8203-4CFE-BC75-E71124E1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733925"/>
            <a:ext cx="795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rPr>
              <a:t>India-first financial assistance. No bank credentials or payment authority.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99DECA1-E6DF-498F-979D-259874AB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7434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363719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6" name="Google Shape;76;p16">
            <a:extLst xmlns:a="http://schemas.openxmlformats.org/drawingml/2006/main">
              <a:ext uri="{FF2B5EF4-FFF2-40B4-BE49-F238E27FC236}">
                <a16:creationId xmlns:a16="http://schemas.microsoft.com/office/drawing/2014/main" id="{5D53FE96-0D59-4D84-918F-39FE533296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5a648da2b1d4aae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7" name="Google Shape;77;p16">
            <a:extLst xmlns:a="http://schemas.openxmlformats.org/drawingml/2006/main">
              <a:ext uri="{FF2B5EF4-FFF2-40B4-BE49-F238E27FC236}">
                <a16:creationId xmlns:a16="http://schemas.microsoft.com/office/drawing/2014/main" id="{CB976E37-26EF-44E6-BCC5-39329E7B3E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71b0b000274c6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8" name="Google Shape;78;p16">
            <a:extLst xmlns:a="http://schemas.openxmlformats.org/drawingml/2006/main">
              <a:ext uri="{FF2B5EF4-FFF2-40B4-BE49-F238E27FC236}">
                <a16:creationId xmlns:a16="http://schemas.microsoft.com/office/drawing/2014/main" id="{E2546498-CC3B-4081-9E23-20CFFB75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1872"/>
            <a:ext cx="9144000" cy="716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>
            <a:extLst xmlns:a="http://schemas.openxmlformats.org/drawingml/2006/main">
              <a:ext uri="{FF2B5EF4-FFF2-40B4-BE49-F238E27FC236}">
                <a16:creationId xmlns:a16="http://schemas.microsoft.com/office/drawing/2014/main" id="{F77454C5-A27B-4ABB-82B2-29AFA7C4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10600" cy="5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Opportunities</a:t>
            </a:r>
            <a:endParaRPr sz="1600">
              <a:latin typeface="Google Sans Flex SemiBold"/>
              <a:ea typeface="Google Sans Flex SemiBold"/>
              <a:cs typeface="Google Sans Flex SemiBold"/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AE59DF3-8E73-49A5-94F5-7876A0CA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335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44BB"/>
                </a:solidFill>
                <a:latin typeface="Google Sans Flex SemiBold"/>
                <a:ea typeface="Google Sans Flex SemiBold"/>
                <a:cs typeface="Google Sans Flex SemiBold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844BB"/>
                </a:solidFill>
                <a:latin typeface="Google Sans Flex SemiBold"/>
                <a:ea typeface="Google Sans Flex SemiBold"/>
                <a:cs typeface="Google Sans Flex SemiBold"/>
              </a:defRPr>
            </a:pPr>
            <a:r>
              <a:rPr sz="1425" b="0">
                <a:solidFill>
                  <a:srgbClr val="6844BB"/>
                </a:solidFill>
                <a:latin typeface="Google Sans Flex SemiBold"/>
                <a:ea typeface="Google Sans Flex SemiBold"/>
                <a:cs typeface="Google Sans Flex SemiBold"/>
              </a:rPr>
              <a:t>How different is it from existing ideas?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3154058-E2C7-4AC5-A404-6BBF3181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676400"/>
            <a:ext cx="8362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rPr>
              <a:t>Friday joins reviewed statement explanations and conversational goal planning in one private workspace. Exact code checks each visual cash plan before the user saves it.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586F22F-9950-40B9-8570-BE05ECC3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28875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44BB"/>
                </a:solidFill>
                <a:latin typeface="Google Sans Flex SemiBold"/>
                <a:ea typeface="Google Sans Flex SemiBold"/>
                <a:cs typeface="Google Sans Flex SemiBold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844BB"/>
                </a:solidFill>
                <a:latin typeface="Google Sans Flex SemiBold"/>
                <a:ea typeface="Google Sans Flex SemiBold"/>
                <a:cs typeface="Google Sans Flex SemiBold"/>
              </a:defRPr>
            </a:pPr>
            <a:r>
              <a:rPr sz="1425" b="0">
                <a:solidFill>
                  <a:srgbClr val="6844BB"/>
                </a:solidFill>
                <a:latin typeface="Google Sans Flex SemiBold"/>
                <a:ea typeface="Google Sans Flex SemiBold"/>
                <a:cs typeface="Google Sans Flex SemiBold"/>
              </a:rPr>
              <a:t>How will it solve the problem?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CA47DC0-06A2-456F-BD42-66355455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771775"/>
            <a:ext cx="8362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rPr>
              <a:t>A supported import organises transaction history. The user confirms budget facts in chat, then Friday tests the goal and its alternatives against that same budget.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4ED998D-A6B6-4038-A621-D9D0C8E6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5623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44BB"/>
                </a:solidFill>
                <a:latin typeface="Google Sans Flex SemiBold"/>
                <a:ea typeface="Google Sans Flex SemiBold"/>
                <a:cs typeface="Google Sans Flex SemiBold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844BB"/>
                </a:solidFill>
                <a:latin typeface="Google Sans Flex SemiBold"/>
                <a:ea typeface="Google Sans Flex SemiBold"/>
                <a:cs typeface="Google Sans Flex SemiBold"/>
              </a:defRPr>
            </a:pPr>
            <a:r>
              <a:rPr sz="1425" b="0">
                <a:solidFill>
                  <a:srgbClr val="6844BB"/>
                </a:solidFill>
                <a:latin typeface="Google Sans Flex SemiBold"/>
                <a:ea typeface="Google Sans Flex SemiBold"/>
                <a:cs typeface="Google Sans Flex SemiBold"/>
              </a:rPr>
              <a:t>USP of the proposed solution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AB62C5F-11CE-482D-A38D-41786663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905250"/>
            <a:ext cx="8362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rPr>
              <a:t>Gemini handles language and documents. An independent INR calculation engine preserves the reserve, debt commitments and every monthly rupee. Users can inspect the assumptions.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401B158-D13C-4171-8F24-485E7A11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733925"/>
            <a:ext cx="795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rPr>
              <a:t>Combination and execution are the differentiation. No world-first or patent claim.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FFB844F-3F93-4ED8-8DDF-CCE3C5C3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7434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5782310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4" name="Google Shape;84;p17">
            <a:extLst xmlns:a="http://schemas.openxmlformats.org/drawingml/2006/main">
              <a:ext uri="{FF2B5EF4-FFF2-40B4-BE49-F238E27FC236}">
                <a16:creationId xmlns:a16="http://schemas.microsoft.com/office/drawing/2014/main" id="{B12103D1-F48E-42BF-8624-3B72678032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3f053c542d140d9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5" name="Google Shape;85;p17">
            <a:extLst xmlns:a="http://schemas.openxmlformats.org/drawingml/2006/main">
              <a:ext uri="{FF2B5EF4-FFF2-40B4-BE49-F238E27FC236}">
                <a16:creationId xmlns:a16="http://schemas.microsoft.com/office/drawing/2014/main" id="{268D2047-A4AC-46EA-804B-94490973B0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6d4b1af24f43f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6" name="Google Shape;86;p17">
            <a:extLst xmlns:a="http://schemas.openxmlformats.org/drawingml/2006/main">
              <a:ext uri="{FF2B5EF4-FFF2-40B4-BE49-F238E27FC236}">
                <a16:creationId xmlns:a16="http://schemas.microsoft.com/office/drawing/2014/main" id="{B920BDBC-E86C-455C-8892-674CE0CA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1872"/>
            <a:ext cx="9144000" cy="716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>
            <a:extLst xmlns:a="http://schemas.openxmlformats.org/drawingml/2006/main">
              <a:ext uri="{FF2B5EF4-FFF2-40B4-BE49-F238E27FC236}">
                <a16:creationId xmlns:a16="http://schemas.microsoft.com/office/drawing/2014/main" id="{F6DC0EFE-E193-42EE-99B2-3C4BAB84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10600" cy="5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B2EC7BC-60EB-4FC0-B979-E8D5CD2E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267700" cy="3114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 marL="203200" indent="-101600">
              <a:spcAft>
                <a:spcPts val="1200"/>
              </a:spcAft>
              <a:buChar char="•"/>
              <a:defRPr sz="150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rPr>
              <a:t>Supported PDF/CSV statements with preview, source checks and reviewed categories.</a:t>
            </a:r>
          </a:p>
          <a:p xmlns:a="http://schemas.openxmlformats.org/drawingml/2006/main">
            <a:pPr marL="203200" indent="-101600">
              <a:spcAft>
                <a:spcPts val="1200"/>
              </a:spcAft>
              <a:buChar char="•"/>
              <a:defRPr sz="150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rPr>
              <a:t>Spending charts, transaction references and candidates for the user to review.</a:t>
            </a:r>
          </a:p>
          <a:p xmlns:a="http://schemas.openxmlformats.org/drawingml/2006/main">
            <a:pPr marL="203200" indent="-101600">
              <a:spcAft>
                <a:spcPts val="1200"/>
              </a:spcAft>
              <a:buChar char="•"/>
              <a:defRPr sz="150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rPr>
              <a:t>Chat-led purchase, savings and emergency-reserve goals with missing-fact questions.</a:t>
            </a:r>
          </a:p>
          <a:p xmlns:a="http://schemas.openxmlformats.org/drawingml/2006/main">
            <a:pPr marL="203200" indent="-101600">
              <a:spcAft>
                <a:spcPts val="1200"/>
              </a:spcAft>
              <a:buChar char="•"/>
              <a:defRPr sz="150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rPr>
              <a:t>Exact allocations, dated checkpoints, pressure scenarios and feasible alternatives.</a:t>
            </a:r>
          </a:p>
          <a:p xmlns:a="http://schemas.openxmlformats.org/drawingml/2006/main">
            <a:pPr marL="203200" indent="-101600">
              <a:spcAft>
                <a:spcPts val="1200"/>
              </a:spcAft>
              <a:buChar char="•"/>
              <a:defRPr sz="150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rPr>
              <a:t>Private saved roadmap, self-reported savings updates and Undo.</a:t>
            </a:r>
          </a:p>
          <a:p xmlns:a="http://schemas.openxmlformats.org/drawingml/2006/main">
            <a:pPr marL="203200" indent="-101600">
              <a:spcAft>
                <a:spcPts val="1200"/>
              </a:spcAft>
              <a:buChar char="•"/>
              <a:defRPr sz="150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rPr>
              <a:t>Optional Google voice turns and attributed public research, with explicit controls.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9FD3A7B-968A-42AC-933F-D4C89D72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733925"/>
            <a:ext cx="795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rPr>
              <a:t>Current consumer journey: statements, money overview, goals and Ask Friday.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C73607D-B563-4BDB-8115-2D146F9B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7434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7920051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6437B3A-5C22-4250-8757-CEBA4CCFDC26}"/>
              </a:ext>
            </a:extLst>
          </p:cNvPr>
          <p:cNvCxnSpPr>
            <a:stCxn xmlns:a="http://schemas.openxmlformats.org/drawingml/2006/main" id="102" idx="1"/>
            <a:endCxn xmlns:a="http://schemas.openxmlformats.org/drawingml/2006/main" id="101" idx="3"/>
          </p:cNvCxnSpPr>
          <p:nvPr/>
        </p:nvCxnSpPr>
        <p:spPr>
          <a:xfrm xmlns:a="http://schemas.openxmlformats.org/drawingml/2006/main" flipH="1">
            <a:off x="2828925" y="329565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844BB"/>
            </a:solidFill>
            <a:tailEnd type="arrow" w="med" len="med"/>
          </a:ln>
        </p:spPr>
      </p:cxnSp>
      <p:cxnSp>
        <p:nvCxn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015AF4E-59B0-4068-A809-034BD52BB910}"/>
              </a:ext>
            </a:extLst>
          </p:cNvPr>
          <p:cNvCxnSpPr>
            <a:stCxn xmlns:a="http://schemas.openxmlformats.org/drawingml/2006/main" id="103" idx="1"/>
            <a:endCxn xmlns:a="http://schemas.openxmlformats.org/drawingml/2006/main" id="102" idx="3"/>
          </p:cNvCxnSpPr>
          <p:nvPr/>
        </p:nvCxnSpPr>
        <p:spPr>
          <a:xfrm xmlns:a="http://schemas.openxmlformats.org/drawingml/2006/main" flipH="1">
            <a:off x="5800725" y="329565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844BB"/>
            </a:solidFill>
            <a:tailEnd type="arrow" w="med" len="med"/>
          </a:ln>
        </p:spPr>
      </p:cxnSp>
      <p:cxnSp>
        <p:nvCxn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04057E8-0847-4E27-8E69-A7D4FE67DC99}"/>
              </a:ext>
            </a:extLst>
          </p:cNvPr>
          <p:cNvCxnSpPr>
            <a:stCxn xmlns:a="http://schemas.openxmlformats.org/drawingml/2006/main" id="98" idx="2"/>
            <a:endCxn xmlns:a="http://schemas.openxmlformats.org/drawingml/2006/main" id="103" idx="0"/>
          </p:cNvCxnSpPr>
          <p:nvPr/>
        </p:nvCxnSpPr>
        <p:spPr>
          <a:xfrm xmlns:a="http://schemas.openxmlformats.org/drawingml/2006/main">
            <a:off x="7539038" y="2124075"/>
            <a:ext cx="0" cy="8191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844BB"/>
            </a:solidFill>
            <a:tailEnd type="arrow" w="med" len="med"/>
          </a:ln>
        </p:spPr>
      </p:cxnSp>
      <p:cxnSp>
        <p:nvCxn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0136D48-FCF0-4030-AA2F-1B9BB8F9984A}"/>
              </a:ext>
            </a:extLst>
          </p:cNvPr>
          <p:cNvCxnSpPr>
            <a:stCxn xmlns:a="http://schemas.openxmlformats.org/drawingml/2006/main" id="97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5800725" y="177165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844BB"/>
            </a:solidFill>
            <a:tailEnd type="arrow" w="med" len="med"/>
          </a:ln>
        </p:spPr>
      </p:cxnSp>
      <p:cxnSp>
        <p:nvCxn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4634E5D-B765-4D09-8E64-9CDE32318FEF}"/>
              </a:ext>
            </a:extLst>
          </p:cNvPr>
          <p:cNvCxnSpPr>
            <a:stCxn xmlns:a="http://schemas.openxmlformats.org/drawingml/2006/main" id="96" idx="3"/>
            <a:endCxn xmlns:a="http://schemas.openxmlformats.org/drawingml/2006/main" id="97" idx="1"/>
          </p:cNvCxnSpPr>
          <p:nvPr/>
        </p:nvCxnSpPr>
        <p:spPr>
          <a:xfrm xmlns:a="http://schemas.openxmlformats.org/drawingml/2006/main">
            <a:off x="2828925" y="177165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844BB"/>
            </a:solidFill>
            <a:tailEnd type="arrow" w="med" len="med"/>
          </a:ln>
        </p:spPr>
      </p:cxnSp>
      <p:pic>
        <p:nvPicPr>
          <p:cNvPr id="92" name="Google Shape;92;p18">
            <a:extLst xmlns:a="http://schemas.openxmlformats.org/drawingml/2006/main">
              <a:ext uri="{FF2B5EF4-FFF2-40B4-BE49-F238E27FC236}">
                <a16:creationId xmlns:a16="http://schemas.microsoft.com/office/drawing/2014/main" id="{6374B89F-2666-42DE-BD7A-0C9F9C1AF7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8d93fb4f0d04567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3" name="Google Shape;93;p18">
            <a:extLst xmlns:a="http://schemas.openxmlformats.org/drawingml/2006/main">
              <a:ext uri="{FF2B5EF4-FFF2-40B4-BE49-F238E27FC236}">
                <a16:creationId xmlns:a16="http://schemas.microsoft.com/office/drawing/2014/main" id="{7A450C0C-DDC5-4479-B576-8DCD8F7BF1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b6a3a4d7ea4a0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4" name="Google Shape;94;p18">
            <a:extLst xmlns:a="http://schemas.openxmlformats.org/drawingml/2006/main">
              <a:ext uri="{FF2B5EF4-FFF2-40B4-BE49-F238E27FC236}">
                <a16:creationId xmlns:a16="http://schemas.microsoft.com/office/drawing/2014/main" id="{A364FF9F-995B-47CB-B2C0-C2A6B47D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1872"/>
            <a:ext cx="9144000" cy="716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>
            <a:extLst xmlns:a="http://schemas.openxmlformats.org/drawingml/2006/main">
              <a:ext uri="{FF2B5EF4-FFF2-40B4-BE49-F238E27FC236}">
                <a16:creationId xmlns:a16="http://schemas.microsoft.com/office/drawing/2014/main" id="{5B2C53DB-98E5-46E8-B39E-0C71ECA9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10600" cy="5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6C1406B-DB60-4358-AB22-54B8B031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19225"/>
            <a:ext cx="2466975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1ECFC"/>
          </a:solidFill>
          <a:ln xmlns:a="http://schemas.openxmlformats.org/drawingml/2006/main" w="9525">
            <a:solidFill>
              <a:srgbClr val="D8D9E1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rPr>
              <a:t>1. Add a supported</a:t>
            </a:r>
          </a:p>
          <a:p xmlns:a="http://schemas.openxmlformats.org/drawingml/2006/main">
            <a: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rPr>
              <a:t>PDF or CSV statement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E665448-D8A7-4CBA-9A92-6BF39F72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19225"/>
            <a:ext cx="2466975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1ECFC"/>
          </a:solidFill>
          <a:ln xmlns:a="http://schemas.openxmlformats.org/drawingml/2006/main" w="9525">
            <a:solidFill>
              <a:srgbClr val="D8D9E1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rPr>
              <a:t>2. Review extracted rows</a:t>
            </a:r>
          </a:p>
          <a:p xmlns:a="http://schemas.openxmlformats.org/drawingml/2006/main">
            <a: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rPr>
              <a:t>or confirm missing facts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46D3BEB-1247-4A83-AC5F-7834FE78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19225"/>
            <a:ext cx="2466975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D8D9E1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rPr>
              <a:t>3. Save reviewed history</a:t>
            </a:r>
          </a:p>
          <a:p xmlns:a="http://schemas.openxmlformats.org/drawingml/2006/main">
            <a: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rPr>
              <a:t>with explicit consent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3E76024-2FA5-42EC-9906-06A0AF71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943225"/>
            <a:ext cx="2466975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D8D9E1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rPr>
              <a:t>6. Save one roadmap</a:t>
            </a:r>
          </a:p>
          <a:p xmlns:a="http://schemas.openxmlformats.org/drawingml/2006/main">
            <a: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rPr>
              <a:t>and report real savings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936DF11-7F51-4934-B52D-DD58DE5F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2466975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1ECFC"/>
          </a:solidFill>
          <a:ln xmlns:a="http://schemas.openxmlformats.org/drawingml/2006/main" w="9525">
            <a:solidFill>
              <a:srgbClr val="D8D9E1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rPr>
              <a:t>5. Inspect charts, dates</a:t>
            </a:r>
          </a:p>
          <a:p xmlns:a="http://schemas.openxmlformats.org/drawingml/2006/main">
            <a: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rPr>
              <a:t>and pressure scenarios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9ED51A0-20A6-495E-930C-C25FF883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43225"/>
            <a:ext cx="2466975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1ECFC"/>
          </a:solidFill>
          <a:ln xmlns:a="http://schemas.openxmlformats.org/drawingml/2006/main" w="9525">
            <a:solidFill>
              <a:srgbClr val="D8D9E1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rPr>
              <a:t>4. Ask Friday for help</a:t>
            </a:r>
          </a:p>
          <a:p xmlns:a="http://schemas.openxmlformats.org/drawingml/2006/main">
            <a: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rPr>
              <a:t>using permitted context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0D716CD-60D4-449D-B9F2-E543EA9B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0"/>
            <a:ext cx="83153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17182A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182A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75" b="0">
                <a:solidFill>
                  <a:srgbClr val="17182A"/>
                </a:solidFill>
                <a:latin typeface="Google Sans Flex"/>
                <a:ea typeface="Google Sans Flex"/>
                <a:cs typeface="Google Sans Flex"/>
              </a:rPr>
              <a:t>AI interprets the request. Exact code checks the result. A failed source check or missing fact returns to review.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783736D-7BA4-4FE5-A603-793B8EB4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733925"/>
            <a:ext cx="795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rPr>
              <a:t>A user can plan a goal without importing a statement. No money moves.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6F3000C-A1F3-49F2-B646-F07FBDA6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7434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1366658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" name="Google Shape;100;p19">
            <a:extLst xmlns:a="http://schemas.openxmlformats.org/drawingml/2006/main">
              <a:ext uri="{FF2B5EF4-FFF2-40B4-BE49-F238E27FC236}">
                <a16:creationId xmlns:a16="http://schemas.microsoft.com/office/drawing/2014/main" id="{32DCD319-0B1D-4F4F-81F3-4F9A04E6B7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9199b30bea74473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" name="Google Shape;101;p19">
            <a:extLst xmlns:a="http://schemas.openxmlformats.org/drawingml/2006/main">
              <a:ext uri="{FF2B5EF4-FFF2-40B4-BE49-F238E27FC236}">
                <a16:creationId xmlns:a16="http://schemas.microsoft.com/office/drawing/2014/main" id="{8850692B-EBED-4DF9-BF02-B16C04B1B2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d3fb2b804446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2" name="Google Shape;102;p19">
            <a:extLst xmlns:a="http://schemas.openxmlformats.org/drawingml/2006/main">
              <a:ext uri="{FF2B5EF4-FFF2-40B4-BE49-F238E27FC236}">
                <a16:creationId xmlns:a16="http://schemas.microsoft.com/office/drawing/2014/main" id="{90B0237D-DBCE-4B5C-839D-0D7295E0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1872"/>
            <a:ext cx="9144000" cy="716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>
            <a:extLst xmlns:a="http://schemas.openxmlformats.org/drawingml/2006/main">
              <a:ext uri="{FF2B5EF4-FFF2-40B4-BE49-F238E27FC236}">
                <a16:creationId xmlns:a16="http://schemas.microsoft.com/office/drawing/2014/main" id="{7B3D0481-102F-4BE8-B55F-7CDF1D71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10600" cy="5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pic>
        <p:nvPic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9B9767D-24BE-44A9-8B23-174FEF9025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32dfc9d59c428a"/>
          <a:stretch xmlns:a="http://schemas.openxmlformats.org/drawingml/2006/main"/>
        </p:blipFill>
        <p:spPr>
          <a:xfrm xmlns:a="http://schemas.openxmlformats.org/drawingml/2006/main">
            <a:off x="365654" y="1333500"/>
            <a:ext cx="5926667" cy="3333750"/>
          </a:xfrm>
          <a:prstGeom xmlns:a="http://schemas.openxmlformats.org/drawingml/2006/main" prst="rect">
            <a:avLst/>
          </a:prstGeom>
        </p:spPr>
      </p:pic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E27D9F6-52D3-4DC2-B098-CAB4B64F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409700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44BB"/>
                </a:solidFill>
                <a:latin typeface="Google Sans Flex SemiBold"/>
                <a:ea typeface="Google Sans Flex SemiBold"/>
                <a:cs typeface="Google Sans Flex SemiBold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844BB"/>
                </a:solidFill>
                <a:latin typeface="Google Sans Flex SemiBold"/>
                <a:ea typeface="Google Sans Flex SemiBold"/>
                <a:cs typeface="Google Sans Flex SemiBold"/>
              </a:defRPr>
            </a:pPr>
            <a:r>
              <a:rPr sz="1425" b="0">
                <a:solidFill>
                  <a:srgbClr val="6844BB"/>
                </a:solidFill>
                <a:latin typeface="Google Sans Flex SemiBold"/>
                <a:ea typeface="Google Sans Flex SemiBold"/>
                <a:cs typeface="Google Sans Flex SemiBold"/>
              </a:rPr>
              <a:t>Implemented UI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469365F-6766-419F-9DFC-F0A8F72D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09750"/>
            <a:ext cx="2143125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rPr>
              <a:t>Clear starting actions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rPr>
              <a:t>Persistent Friday chat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rPr>
              <a:t>Visible voice controls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rPr>
              <a:t>Account and privacy menu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B51C273-0F7F-44F1-BB36-AB45473A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733925"/>
            <a:ext cx="795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rPr>
              <a:t>Actual local product screen. Artificial workspace only.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B9947B3-80EE-415D-BF1A-EE6C3796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7434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5016326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33B329A-A5E0-4CA9-B0AB-46D180A50EFE}"/>
              </a:ext>
            </a:extLst>
          </p:cNvPr>
          <p:cNvCxnSpPr>
            <a:stCxn xmlns:a="http://schemas.openxmlformats.org/drawingml/2006/main" id="114" idx="2"/>
            <a:endCxn xmlns:a="http://schemas.openxmlformats.org/drawingml/2006/main" id="121" idx="0"/>
          </p:cNvCxnSpPr>
          <p:nvPr/>
        </p:nvCxnSpPr>
        <p:spPr>
          <a:xfrm xmlns:a="http://schemas.openxmlformats.org/drawingml/2006/main">
            <a:off x="5791200" y="2343150"/>
            <a:ext cx="1966913" cy="866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6844BB"/>
            </a:solidFill>
            <a:tailEnd type="arrow" w="med" len="med"/>
          </a:ln>
        </p:spPr>
      </p:cxnSp>
      <p:cxnSp>
        <p:nvCxn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C793B18-F3A0-4972-A7DA-416508B4F247}"/>
              </a:ext>
            </a:extLst>
          </p:cNvPr>
          <p:cNvCxnSpPr>
            <a:stCxn xmlns:a="http://schemas.openxmlformats.org/drawingml/2006/main" id="121" idx="1"/>
            <a:endCxn xmlns:a="http://schemas.openxmlformats.org/drawingml/2006/main" id="120" idx="3"/>
          </p:cNvCxnSpPr>
          <p:nvPr/>
        </p:nvCxnSpPr>
        <p:spPr>
          <a:xfrm xmlns:a="http://schemas.openxmlformats.org/drawingml/2006/main" flipH="1">
            <a:off x="6096000" y="3633788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844BB"/>
            </a:solidFill>
            <a:tailEnd type="arrow" w="med" len="med"/>
          </a:ln>
        </p:spPr>
      </p:cxnSp>
      <p:cxnSp>
        <p:nvCxn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58D85FF-5BAD-4078-AA3C-33D6BB853163}"/>
              </a:ext>
            </a:extLst>
          </p:cNvPr>
          <p:cNvCxnSpPr>
            <a:stCxn xmlns:a="http://schemas.openxmlformats.org/drawingml/2006/main" id="119" idx="3"/>
            <a:endCxn xmlns:a="http://schemas.openxmlformats.org/drawingml/2006/main" id="120" idx="1"/>
          </p:cNvCxnSpPr>
          <p:nvPr/>
        </p:nvCxnSpPr>
        <p:spPr>
          <a:xfrm xmlns:a="http://schemas.openxmlformats.org/drawingml/2006/main">
            <a:off x="2743200" y="3633788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844BB"/>
            </a:solidFill>
            <a:tailEnd type="arrow" w="med" len="med"/>
          </a:ln>
        </p:spPr>
      </p:cxnSp>
      <p:cxnSp>
        <p:nvCxn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53C8088-8298-4ED6-B397-8633DA568B95}"/>
              </a:ext>
            </a:extLst>
          </p:cNvPr>
          <p:cNvCxnSpPr>
            <a:stCxn xmlns:a="http://schemas.openxmlformats.org/drawingml/2006/main" id="114" idx="2"/>
            <a:endCxn xmlns:a="http://schemas.openxmlformats.org/drawingml/2006/main" id="119" idx="0"/>
          </p:cNvCxnSpPr>
          <p:nvPr/>
        </p:nvCxnSpPr>
        <p:spPr>
          <a:xfrm xmlns:a="http://schemas.openxmlformats.org/drawingml/2006/main" flipH="1">
            <a:off x="1552575" y="2343150"/>
            <a:ext cx="4238625" cy="866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6844BB"/>
            </a:solidFill>
            <a:tailEnd type="arrow" w="med" len="med"/>
          </a:ln>
        </p:spPr>
      </p:cxnSp>
      <p:cxnSp>
        <p:nvCxn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E071093-9B93-4528-90D0-8A1568F07083}"/>
              </a:ext>
            </a:extLst>
          </p:cNvPr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6753225" y="1976438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844BB"/>
            </a:solidFill>
            <a:tailEnd type="arrow" w="med" len="med"/>
          </a:ln>
        </p:spPr>
      </p:cxnSp>
      <p:cxnSp>
        <p:nvCxn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6F9ACDB-64A5-443D-8519-45764C748642}"/>
              </a:ext>
            </a:extLst>
          </p:cNvPr>
          <p:cNvCxnSpPr>
            <a:stCxn xmlns:a="http://schemas.openxmlformats.org/drawingml/2006/main" id="113" idx="3"/>
            <a:endCxn xmlns:a="http://schemas.openxmlformats.org/drawingml/2006/main" id="114" idx="1"/>
          </p:cNvCxnSpPr>
          <p:nvPr/>
        </p:nvCxnSpPr>
        <p:spPr>
          <a:xfrm xmlns:a="http://schemas.openxmlformats.org/drawingml/2006/main">
            <a:off x="4314825" y="1976438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844BB"/>
            </a:solidFill>
            <a:tailEnd type="arrow" w="med" len="med"/>
          </a:ln>
        </p:spPr>
      </p:cxnSp>
      <p:cxnSp>
        <p:nvCxn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6EAA9CC-9322-4BBF-A9F6-EF24B9C3F2D7}"/>
              </a:ext>
            </a:extLst>
          </p:cNvPr>
          <p:cNvCxnSpPr>
            <a:stCxn xmlns:a="http://schemas.openxmlformats.org/drawingml/2006/main" id="112" idx="3"/>
            <a:endCxn xmlns:a="http://schemas.openxmlformats.org/drawingml/2006/main" id="113" idx="1"/>
          </p:cNvCxnSpPr>
          <p:nvPr/>
        </p:nvCxnSpPr>
        <p:spPr>
          <a:xfrm xmlns:a="http://schemas.openxmlformats.org/drawingml/2006/main">
            <a:off x="1990725" y="1976438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844BB"/>
            </a:solidFill>
            <a:tailEnd type="arrow" w="med" len="med"/>
          </a:ln>
        </p:spPr>
      </p:cxnSp>
      <p:pic>
        <p:nvPicPr>
          <p:cNvPr id="108" name="Google Shape;108;p20">
            <a:extLst xmlns:a="http://schemas.openxmlformats.org/drawingml/2006/main">
              <a:ext uri="{FF2B5EF4-FFF2-40B4-BE49-F238E27FC236}">
                <a16:creationId xmlns:a16="http://schemas.microsoft.com/office/drawing/2014/main" id="{BD39418E-B33E-4063-B34B-90EE0CAFAD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270fe895fe44e86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9" name="Google Shape;109;p20">
            <a:extLst xmlns:a="http://schemas.openxmlformats.org/drawingml/2006/main">
              <a:ext uri="{FF2B5EF4-FFF2-40B4-BE49-F238E27FC236}">
                <a16:creationId xmlns:a16="http://schemas.microsoft.com/office/drawing/2014/main" id="{04D1B119-528D-41F5-8310-302154AF32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3e21999c404bf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0" name="Google Shape;110;p20">
            <a:extLst xmlns:a="http://schemas.openxmlformats.org/drawingml/2006/main">
              <a:ext uri="{FF2B5EF4-FFF2-40B4-BE49-F238E27FC236}">
                <a16:creationId xmlns:a16="http://schemas.microsoft.com/office/drawing/2014/main" id="{37AD664D-A18A-44DE-B321-818B02F3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1872"/>
            <a:ext cx="9144000" cy="716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>
            <a:extLst xmlns:a="http://schemas.openxmlformats.org/drawingml/2006/main">
              <a:ext uri="{FF2B5EF4-FFF2-40B4-BE49-F238E27FC236}">
                <a16:creationId xmlns:a16="http://schemas.microsoft.com/office/drawing/2014/main" id="{7622DAC3-3EDB-4B0A-93AB-D9FBE5CB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10600" cy="5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A830FB4-7466-4FD2-9618-A38A8496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609725"/>
            <a:ext cx="1628775" cy="733425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F1ECFC"/>
          </a:solidFill>
          <a:ln xmlns:a="http://schemas.openxmlformats.org/drawingml/2006/main" w="9525">
            <a:solidFill>
              <a:srgbClr val="D8D9E1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rPr>
              <a:t>Browser</a:t>
            </a:r>
          </a:p>
          <a:p xmlns:a="http://schemas.openxmlformats.org/drawingml/2006/main">
            <a: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rPr>
              <a:t>Charts, chat and voice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E98D94F-D783-4D33-9885-CEB5C91B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609725"/>
            <a:ext cx="1866900" cy="733425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F1ECFC"/>
          </a:solidFill>
          <a:ln xmlns:a="http://schemas.openxmlformats.org/drawingml/2006/main" w="9525">
            <a:solidFill>
              <a:srgbClr val="D8D9E1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rPr>
              <a:t>Google IAP sign-in</a:t>
            </a:r>
          </a:p>
          <a:p xmlns:a="http://schemas.openxmlformats.org/drawingml/2006/main">
            <a: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rPr>
              <a:t>Cloud Run web gateway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CEB5575-4DEF-46F8-BD7E-B1E9ED00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09725"/>
            <a:ext cx="1924050" cy="733425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F1ECFC"/>
          </a:solidFill>
          <a:ln xmlns:a="http://schemas.openxmlformats.org/drawingml/2006/main" w="9525">
            <a:solidFill>
              <a:srgbClr val="D8D9E1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rPr>
              <a:t>Private Cloud Run API</a:t>
            </a:r>
          </a:p>
          <a:p xmlns:a="http://schemas.openxmlformats.org/drawingml/2006/main">
            <a: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rPr>
              <a:t>FastAPI / Pydantic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2815A0A-5CC5-4E1F-93E2-92EFCEE3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609725"/>
            <a:ext cx="1571625" cy="733425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D8D9E1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rPr>
              <a:t>Firestore</a:t>
            </a:r>
          </a:p>
          <a:p xmlns:a="http://schemas.openxmlformats.org/drawingml/2006/main">
            <a: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rPr>
              <a:t>Private workspace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BF54FA3-4B8B-4F43-B9FE-48A61D4E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09925"/>
            <a:ext cx="2381250" cy="847725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F1ECFC"/>
          </a:solidFill>
          <a:ln xmlns:a="http://schemas.openxmlformats.org/drawingml/2006/main" w="9525">
            <a:solidFill>
              <a:srgbClr val="D8D9E1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rPr>
              <a:t>Gemini on Vertex AI</a:t>
            </a:r>
          </a:p>
          <a:p xmlns:a="http://schemas.openxmlformats.org/drawingml/2006/main">
            <a: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rPr>
              <a:t>Interpretation, chat, voice</a:t>
            </a:r>
          </a:p>
          <a:p xmlns:a="http://schemas.openxmlformats.org/drawingml/2006/main">
            <a: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rPr>
              <a:t>Google Search grounding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9843349-9596-4F4F-B322-0968EE02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09925"/>
            <a:ext cx="2762250" cy="847725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D8D9E1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rPr>
              <a:t>Checks within the private API</a:t>
            </a:r>
          </a:p>
          <a:p xmlns:a="http://schemas.openxmlformats.org/drawingml/2006/main">
            <a: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rPr>
              <a:t>Evidence, INR, consent, revisions</a:t>
            </a:r>
          </a:p>
          <a:p xmlns:a="http://schemas.openxmlformats.org/drawingml/2006/main">
            <a: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rPr>
              <a:t>Visual preview before save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BC7E9BF-2CB3-49B6-B02B-5F2CC827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09925"/>
            <a:ext cx="2066925" cy="847725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F1ECFC"/>
          </a:solidFill>
          <a:ln xmlns:a="http://schemas.openxmlformats.org/drawingml/2006/main" w="9525">
            <a:solidFill>
              <a:srgbClr val="D8D9E1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rPr>
              <a:t>Document AI</a:t>
            </a:r>
          </a:p>
          <a:p xmlns:a="http://schemas.openxmlformats.org/drawingml/2006/main">
            <a:pPr algn="ctr">
              <a:def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75">
                <a:solidFill>
                  <a:srgbClr val="17182A"/>
                </a:solidFill>
                <a:latin typeface="Google Sans Flex Medium"/>
                <a:ea typeface="Google Sans Flex Medium"/>
                <a:cs typeface="Google Sans Flex Medium"/>
              </a:rPr>
              <a:t>Supported scanned PDFs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C83A530-DC83-4CD9-B923-6C5C4C3C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333875"/>
            <a:ext cx="8382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rPr>
              <a:t>Reviewed history and goals persist per user. Private totals reach Gemini only when the user permits them.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0B60AE7-F418-4448-B582-5D1DF84B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733925"/>
            <a:ext cx="795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rPr>
              <a:t>Public research excludes private statement data. Raw uploads are not archived.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8159620-CFAE-4EC2-9241-B70F0D74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7434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5660522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6" name="Google Shape;116;p21">
            <a:extLst xmlns:a="http://schemas.openxmlformats.org/drawingml/2006/main">
              <a:ext uri="{FF2B5EF4-FFF2-40B4-BE49-F238E27FC236}">
                <a16:creationId xmlns:a16="http://schemas.microsoft.com/office/drawing/2014/main" id="{11486C77-782D-4DAC-9D9F-8250687FA9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3029c09153451b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7" name="Google Shape;117;p21">
            <a:extLst xmlns:a="http://schemas.openxmlformats.org/drawingml/2006/main">
              <a:ext uri="{FF2B5EF4-FFF2-40B4-BE49-F238E27FC236}">
                <a16:creationId xmlns:a16="http://schemas.microsoft.com/office/drawing/2014/main" id="{0D30487B-F828-4958-BEDB-B9B76C6EF0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002b9857d046c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8" name="Google Shape;118;p21">
            <a:extLst xmlns:a="http://schemas.openxmlformats.org/drawingml/2006/main">
              <a:ext uri="{FF2B5EF4-FFF2-40B4-BE49-F238E27FC236}">
                <a16:creationId xmlns:a16="http://schemas.microsoft.com/office/drawing/2014/main" id="{6139BEFC-95CD-4857-909A-9078D1EE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1872"/>
            <a:ext cx="9144000" cy="716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>
            <a:extLst xmlns:a="http://schemas.openxmlformats.org/drawingml/2006/main">
              <a:ext uri="{FF2B5EF4-FFF2-40B4-BE49-F238E27FC236}">
                <a16:creationId xmlns:a16="http://schemas.microsoft.com/office/drawing/2014/main" id="{E6DD6BAA-D7E4-4AF6-BCAE-8AF44174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10600" cy="5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graphicFrame>
        <p:nvGraphicFrame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B1ED757-0248-427A-86B6-CF2C9F5DBE09}"/>
              </a:ext>
            </a:extLst>
          </p:cNvPr>
          <p:cNvGraphicFramePr/>
          <p:nvPr/>
        </p:nvGraphicFramePr>
        <p:xfrm>
          <a:off xmlns:a="http://schemas.openxmlformats.org/drawingml/2006/main" x="361950" y="1333500"/>
          <a:ext xmlns:a="http://schemas.openxmlformats.org/drawingml/2006/main" cx="8420100" cy="3105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6134100"/>
              </a:tblGrid>
              <a:tr h="388144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</a:rPr>
                        <a:t>Technology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D9E1"/>
                      </a:solidFill>
                      <a:prstDash val="solid"/>
                    </a:lnL>
                    <a:lnR w="6668">
                      <a:solidFill>
                        <a:srgbClr val="D8D9E1"/>
                      </a:solidFill>
                      <a:prstDash val="solid"/>
                    </a:lnR>
                    <a:lnT w="6668">
                      <a:solidFill>
                        <a:srgbClr val="D8D9E1"/>
                      </a:solidFill>
                      <a:prstDash val="solid"/>
                    </a:lnT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1ECFC"/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</a:rPr>
                        <a:t>Implemented purpose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D9E1"/>
                      </a:solidFill>
                      <a:prstDash val="solid"/>
                    </a:lnR>
                    <a:lnT w="6668">
                      <a:solidFill>
                        <a:srgbClr val="D8D9E1"/>
                      </a:solidFill>
                      <a:prstDash val="solid"/>
                    </a:lnT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1ECFC"/>
                    </a:solidFill>
                  </a:tcPr>
                </a:tc>
              </a:tr>
              <a:tr h="388144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Cloud Run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D9E1"/>
                      </a:solidFill>
                      <a:prstDash val="solid"/>
                    </a:lnL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Web gateway and private Python API, deployed in asia-south1.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8144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Gemini on Vertex AI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D9E1"/>
                      </a:solidFill>
                      <a:prstDash val="solid"/>
                    </a:lnL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PDF interpretation, structured goal intake, grounded chat and voice.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AFAFC"/>
                    </a:solidFill>
                  </a:tcPr>
                </a:tc>
              </a:tr>
              <a:tr h="388144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Firestore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D9E1"/>
                      </a:solidFill>
                      <a:prstDash val="solid"/>
                    </a:lnL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Tenant-scoped reviewed rows, preferences, roadmap state and revisions.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8144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Document AI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D9E1"/>
                      </a:solidFill>
                      <a:prstDash val="solid"/>
                    </a:lnL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OCR path for supported scanned statement PDFs.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AFAFC"/>
                    </a:solidFill>
                  </a:tcPr>
                </a:tc>
              </a:tr>
              <a:tr h="388144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IAM / IAP / Secret Manager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D9E1"/>
                      </a:solidFill>
                      <a:prstDash val="solid"/>
                    </a:lnL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Google identity, service boundaries and server-side configuration.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8144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Cloud Build / Artifact Registry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D9E1"/>
                      </a:solidFill>
                      <a:prstDash val="solid"/>
                    </a:lnL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Container builds and immutable deployment images.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AFAFC"/>
                    </a:solidFill>
                  </a:tcPr>
                </a:tc>
              </a:tr>
              <a:tr h="388144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HTML / CSS / JS / Python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D9E1"/>
                      </a:solidFill>
                      <a:prstDash val="solid"/>
                    </a:lnL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Responsive UI, FastAPI, Pydantic, local Docker and SQLite.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6F2D533-71F9-43E9-939A-AC5CAF3D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733925"/>
            <a:ext cx="795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rPr>
              <a:t>Gemini models power the AI. Firebase Hosting/Auth, BigQuery and model fine-tuning are not used.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AA67CB1-14FB-41B7-8709-EDC4EA63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7434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9287636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4" name="Google Shape;124;p22">
            <a:extLst xmlns:a="http://schemas.openxmlformats.org/drawingml/2006/main">
              <a:ext uri="{FF2B5EF4-FFF2-40B4-BE49-F238E27FC236}">
                <a16:creationId xmlns:a16="http://schemas.microsoft.com/office/drawing/2014/main" id="{61C952EB-7DEC-43A9-A069-703C8748C9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b44e44cd16e417e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5" name="Google Shape;125;p22">
            <a:extLst xmlns:a="http://schemas.openxmlformats.org/drawingml/2006/main">
              <a:ext uri="{FF2B5EF4-FFF2-40B4-BE49-F238E27FC236}">
                <a16:creationId xmlns:a16="http://schemas.microsoft.com/office/drawing/2014/main" id="{2E8F0EF7-E3B8-49C8-93CA-D8B9E022C9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7707cacceb482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6" name="Google Shape;126;p22">
            <a:extLst xmlns:a="http://schemas.openxmlformats.org/drawingml/2006/main">
              <a:ext uri="{FF2B5EF4-FFF2-40B4-BE49-F238E27FC236}">
                <a16:creationId xmlns:a16="http://schemas.microsoft.com/office/drawing/2014/main" id="{C3100673-016B-4220-ADC4-817CD5F8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1872"/>
            <a:ext cx="9144000" cy="716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>
            <a:extLst xmlns:a="http://schemas.openxmlformats.org/drawingml/2006/main">
              <a:ext uri="{FF2B5EF4-FFF2-40B4-BE49-F238E27FC236}">
                <a16:creationId xmlns:a16="http://schemas.microsoft.com/office/drawing/2014/main" id="{29575BFC-FA60-4280-BF88-839E267F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10600" cy="5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3D8BF22-964C-4711-8815-FF5DAF94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62075"/>
            <a:ext cx="8429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182A"/>
                </a:solidFill>
                <a:latin typeface="Google Sans Flex SemiBold"/>
                <a:ea typeface="Google Sans Flex SemiBold"/>
                <a:cs typeface="Google Sans Flex SemiBold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182A"/>
                </a:solidFill>
                <a:latin typeface="Google Sans Flex SemiBold"/>
                <a:ea typeface="Google Sans Flex SemiBold"/>
                <a:cs typeface="Google Sans Flex SemiBold"/>
              </a:defRPr>
            </a:pPr>
            <a:r>
              <a:rPr sz="2100" b="0">
                <a:solidFill>
                  <a:srgbClr val="17182A"/>
                </a:solidFill>
                <a:latin typeface="Google Sans Flex SemiBold"/>
                <a:ea typeface="Google Sans Flex SemiBold"/>
                <a:cs typeface="Google Sans Flex SemiBold"/>
              </a:rPr>
              <a:t>Usage-based prototype on a Google Cloud trial</a:t>
            </a:r>
          </a:p>
        </p:txBody>
      </p:sp>
      <p:graphicFrame>
        <p:nvGraphicFrame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D42E26D-8084-4E5A-9358-8534D84ABC03}"/>
              </a:ext>
            </a:extLst>
          </p:cNvPr>
          <p:cNvGraphicFramePr/>
          <p:nvPr/>
        </p:nvGraphicFramePr>
        <p:xfrm>
          <a:off xmlns:a="http://schemas.openxmlformats.org/drawingml/2006/main" x="361950" y="1952625"/>
          <a:ext xmlns:a="http://schemas.openxmlformats.org/drawingml/2006/main" cx="8420100" cy="2028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43275"/>
                <a:gridCol w="5076825"/>
              </a:tblGrid>
              <a:tr h="405765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</a:rPr>
                        <a:t>Cost driver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D9E1"/>
                      </a:solidFill>
                      <a:prstDash val="solid"/>
                    </a:lnL>
                    <a:lnR w="6668">
                      <a:solidFill>
                        <a:srgbClr val="D8D9E1"/>
                      </a:solidFill>
                      <a:prstDash val="solid"/>
                    </a:lnR>
                    <a:lnT w="6668">
                      <a:solidFill>
                        <a:srgbClr val="D8D9E1"/>
                      </a:solidFill>
                      <a:prstDash val="solid"/>
                    </a:lnT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1ECFC"/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</a:rPr>
                        <a:t>Current control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D9E1"/>
                      </a:solidFill>
                      <a:prstDash val="solid"/>
                    </a:lnR>
                    <a:lnT w="6668">
                      <a:solidFill>
                        <a:srgbClr val="D8D9E1"/>
                      </a:solidFill>
                      <a:prstDash val="solid"/>
                    </a:lnT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1ECFC"/>
                    </a:solidFill>
                  </a:tcPr>
                </a:tc>
              </a:tr>
              <a:tr h="405765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PDF, chat, research and voice calls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D9E1"/>
                      </a:solidFill>
                      <a:prstDash val="solid"/>
                    </a:lnL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Explicit opt-in, request limits and bounded context.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Known-format CSV analysis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D9E1"/>
                      </a:solidFill>
                      <a:prstDash val="solid"/>
                    </a:lnL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Deterministic parsing and calculations need zero model calls.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AFAFC"/>
                    </a:solidFill>
                  </a:tcPr>
                </a:tc>
              </a:tr>
              <a:tr h="405765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Cloud Run and Firestore operations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D9E1"/>
                      </a:solidFill>
                      <a:prstDash val="solid"/>
                    </a:lnL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Serverless services and bounded workspace sizes.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Repeated speech playback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D9E1"/>
                      </a:solidFill>
                      <a:prstDash val="solid"/>
                    </a:lnL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Page-memory replay avoids another model call when cached.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AFAFC"/>
                    </a:solidFill>
                  </a:tcPr>
                </a:tc>
              </a:tr>
            </a:tbl>
          </a:graphicData>
        </a:graphic>
      </p:graphicFrame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76C481A-E726-41F9-AF57-36E719B3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229100"/>
            <a:ext cx="8401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rPr>
              <a:t>A production per-user estimate still needs measured traffic, tokens, document pages and retention. Trial credits do not make the service permanently free.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9FB4108-82C3-4B60-A309-A9F1EB3A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733925"/>
            <a:ext cx="795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rPr>
              <a:t>Production pricing depends on measured usage and the selected provider services.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1294504-8C20-4F12-A411-81B9749C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7434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7026935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2" name="Google Shape;132;p23">
            <a:extLst xmlns:a="http://schemas.openxmlformats.org/drawingml/2006/main">
              <a:ext uri="{FF2B5EF4-FFF2-40B4-BE49-F238E27FC236}">
                <a16:creationId xmlns:a16="http://schemas.microsoft.com/office/drawing/2014/main" id="{BFCD118E-FC71-4F5F-A876-E723B9954B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084f2bb1d6841f2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3" name="Google Shape;133;p23">
            <a:extLst xmlns:a="http://schemas.openxmlformats.org/drawingml/2006/main">
              <a:ext uri="{FF2B5EF4-FFF2-40B4-BE49-F238E27FC236}">
                <a16:creationId xmlns:a16="http://schemas.microsoft.com/office/drawing/2014/main" id="{31396A44-0E78-4DA6-A316-45B004A0D0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3d0a1e6e2a4b2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4" name="Google Shape;134;p23">
            <a:extLst xmlns:a="http://schemas.openxmlformats.org/drawingml/2006/main">
              <a:ext uri="{FF2B5EF4-FFF2-40B4-BE49-F238E27FC236}">
                <a16:creationId xmlns:a16="http://schemas.microsoft.com/office/drawing/2014/main" id="{EFD92CEF-9F3E-4669-9C52-6F893E9E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1872"/>
            <a:ext cx="9144000" cy="716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>
            <a:extLst xmlns:a="http://schemas.openxmlformats.org/drawingml/2006/main">
              <a:ext uri="{FF2B5EF4-FFF2-40B4-BE49-F238E27FC236}">
                <a16:creationId xmlns:a16="http://schemas.microsoft.com/office/drawing/2014/main" id="{21A04D2B-0C70-4008-ACB0-4CC37A50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10600" cy="5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pic>
        <p:nvPic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94FC534-4068-47EF-B454-C6F743F552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dc652c5b9b42c0"/>
          <a:srcRect xmlns:a="http://schemas.openxmlformats.org/drawingml/2006/main" l="0" t="24800" r="0" b="43000"/>
          <a:stretch xmlns:a="http://schemas.openxmlformats.org/drawingml/2006/main"/>
        </p:blipFill>
        <p:spPr>
          <a:xfrm xmlns:a="http://schemas.openxmlformats.org/drawingml/2006/main">
            <a:off x="361950" y="1381125"/>
            <a:ext cx="4191000" cy="3219450"/>
          </a:xfrm>
          <a:prstGeom xmlns:a="http://schemas.openxmlformats.org/drawingml/2006/main" prst="rect">
            <a:avLst/>
          </a:prstGeom>
        </p:spPr>
      </p:pic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6193978F-6133-4C80-B8BD-D712FC89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381125"/>
            <a:ext cx="3886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44BB"/>
                </a:solidFill>
                <a:latin typeface="Google Sans Flex SemiBold"/>
                <a:ea typeface="Google Sans Flex SemiBold"/>
                <a:cs typeface="Google Sans Flex SemiBold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844BB"/>
                </a:solidFill>
                <a:latin typeface="Google Sans Flex SemiBold"/>
                <a:ea typeface="Google Sans Flex SemiBold"/>
                <a:cs typeface="Google Sans Flex SemiBold"/>
              </a:defRPr>
            </a:pPr>
            <a:r>
              <a:rPr sz="1425" b="0">
                <a:solidFill>
                  <a:srgbClr val="6844BB"/>
                </a:solidFill>
                <a:latin typeface="Google Sans Flex SemiBold"/>
                <a:ea typeface="Google Sans Flex SemiBold"/>
                <a:cs typeface="Google Sans Flex SemiBold"/>
              </a:rPr>
              <a:t>A plan the user can inspect</a:t>
            </a:r>
          </a:p>
        </p:txBody>
      </p:sp>
      <p:graphicFrame>
        <p:nvGraphicFrame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51E215E-2B5B-4CE9-B331-0A351DEE9840}"/>
              </a:ext>
            </a:extLst>
          </p:cNvPr>
          <p:cNvGraphicFramePr/>
          <p:nvPr/>
        </p:nvGraphicFramePr>
        <p:xfrm>
          <a:off xmlns:a="http://schemas.openxmlformats.org/drawingml/2006/main" x="4857750" y="1819275"/>
          <a:ext xmlns:a="http://schemas.openxmlformats.org/drawingml/2006/main" cx="3886200" cy="2076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00325"/>
                <a:gridCol w="1285875"/>
              </a:tblGrid>
              <a:tr h="4152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</a:rPr>
                        <a:t>Artificial travel goal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D9E1"/>
                      </a:solidFill>
                      <a:prstDash val="solid"/>
                    </a:lnL>
                    <a:lnR w="6668">
                      <a:solidFill>
                        <a:srgbClr val="D8D9E1"/>
                      </a:solidFill>
                      <a:prstDash val="solid"/>
                    </a:lnR>
                    <a:lnT w="6668">
                      <a:solidFill>
                        <a:srgbClr val="D8D9E1"/>
                      </a:solidFill>
                      <a:prstDash val="solid"/>
                    </a:lnT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1ECFC"/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</a:rPr>
                        <a:t>INR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D9E1"/>
                      </a:solidFill>
                      <a:prstDash val="solid"/>
                    </a:lnR>
                    <a:lnT w="6668">
                      <a:solidFill>
                        <a:srgbClr val="D8D9E1"/>
                      </a:solidFill>
                      <a:prstDash val="solid"/>
                    </a:lnT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1ECFC"/>
                    </a:solidFill>
                  </a:tcPr>
                </a:tc>
              </a:tr>
              <a:tr h="4152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Target in 12 months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D9E1"/>
                      </a:solidFill>
                      <a:prstDash val="solid"/>
                    </a:lnL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1,20,000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52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Starting pot after reserve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D9E1"/>
                      </a:solidFill>
                      <a:prstDash val="solid"/>
                    </a:lnL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20,000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AFAFC"/>
                    </a:solidFill>
                  </a:tcPr>
                </a:tc>
              </a:tr>
              <a:tr h="4152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Monthly saving step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D9E1"/>
                      </a:solidFill>
                      <a:prstDash val="solid"/>
                    </a:lnL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8,333.34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52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Protected cash reserve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D9E1"/>
                      </a:solidFill>
                      <a:prstDash val="solid"/>
                    </a:lnL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50,000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AFAFC"/>
                    </a:solidFill>
                  </a:tcPr>
                </a:tc>
              </a:tr>
            </a:tbl>
          </a:graphicData>
        </a:graphic>
      </p:graphicFrame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23A34BC-2B83-4624-9E7D-8A3AD0CD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95750"/>
            <a:ext cx="3886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rPr>
              <a:t>Friday also shows pressure cases and budget alternatives. Progress changes only when the user reports additional savings.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AA8A8179-4BF9-4351-AD81-53DCBB25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733925"/>
            <a:ext cx="795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rPr>
              <a:t>Actual product output. Scenario values are not forecasts or verified bank balances.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163109CA-A258-4F15-813E-4CDF156F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7434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1488839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0" name="Google Shape;140;p24">
            <a:extLst xmlns:a="http://schemas.openxmlformats.org/drawingml/2006/main">
              <a:ext uri="{FF2B5EF4-FFF2-40B4-BE49-F238E27FC236}">
                <a16:creationId xmlns:a16="http://schemas.microsoft.com/office/drawing/2014/main" id="{631B9865-2170-4F84-A092-D6EF516291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c1ba07653ac4e43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1" name="Google Shape;141;p24">
            <a:extLst xmlns:a="http://schemas.openxmlformats.org/drawingml/2006/main">
              <a:ext uri="{FF2B5EF4-FFF2-40B4-BE49-F238E27FC236}">
                <a16:creationId xmlns:a16="http://schemas.microsoft.com/office/drawing/2014/main" id="{B7200179-C3D7-470A-9BEE-5851B3DABD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e6bbc52a234c7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2" name="Google Shape;142;p24">
            <a:extLst xmlns:a="http://schemas.openxmlformats.org/drawingml/2006/main">
              <a:ext uri="{FF2B5EF4-FFF2-40B4-BE49-F238E27FC236}">
                <a16:creationId xmlns:a16="http://schemas.microsoft.com/office/drawing/2014/main" id="{80138F10-D7C8-448A-9B4E-B0DA99B8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1872"/>
            <a:ext cx="9144000" cy="716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>
            <a:extLst xmlns:a="http://schemas.openxmlformats.org/drawingml/2006/main">
              <a:ext uri="{FF2B5EF4-FFF2-40B4-BE49-F238E27FC236}">
                <a16:creationId xmlns:a16="http://schemas.microsoft.com/office/drawing/2014/main" id="{9D989415-2ECD-461B-9582-18744E36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10600" cy="5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graphicFrame>
        <p:nvGraphicFrame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5E384E1B-6F1E-4BF0-83E1-5EF07CA8E026}"/>
              </a:ext>
            </a:extLst>
          </p:cNvPr>
          <p:cNvGraphicFramePr/>
          <p:nvPr/>
        </p:nvGraphicFramePr>
        <p:xfrm>
          <a:off xmlns:a="http://schemas.openxmlformats.org/drawingml/2006/main" x="361950" y="1333500"/>
          <a:ext xmlns:a="http://schemas.openxmlformats.org/drawingml/2006/main" cx="8420100" cy="2638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14650"/>
                <a:gridCol w="5505450"/>
              </a:tblGrid>
              <a:tr h="439738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</a:rPr>
                        <a:t>Evaluation scope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D9E1"/>
                      </a:solidFill>
                      <a:prstDash val="solid"/>
                    </a:lnL>
                    <a:lnR w="6668">
                      <a:solidFill>
                        <a:srgbClr val="D8D9E1"/>
                      </a:solidFill>
                      <a:prstDash val="solid"/>
                    </a:lnR>
                    <a:lnT w="6668">
                      <a:solidFill>
                        <a:srgbClr val="D8D9E1"/>
                      </a:solidFill>
                      <a:prstDash val="solid"/>
                    </a:lnT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1ECFC"/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</a:rPr>
                        <a:t>Recorded result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D9E1"/>
                      </a:solidFill>
                      <a:prstDash val="solid"/>
                    </a:lnR>
                    <a:lnT w="6668">
                      <a:solidFill>
                        <a:srgbClr val="D8D9E1"/>
                      </a:solidFill>
                      <a:prstDash val="solid"/>
                    </a:lnT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1ECFC"/>
                    </a:solidFill>
                  </a:tcPr>
                </a:tc>
              </a:tr>
              <a:tr h="439738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Native regression suite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D9E1"/>
                      </a:solidFill>
                      <a:prstDash val="solid"/>
                    </a:lnL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868 run: 867 passed, 1 optional integration skipped.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9738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Container regression suite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D9E1"/>
                      </a:solidFill>
                      <a:prstDash val="solid"/>
                    </a:lnL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868 run: 818 passed, 50 environment-dependent skips.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AFAFC"/>
                    </a:solidFill>
                  </a:tcPr>
                </a:tc>
              </a:tr>
              <a:tr h="439738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Offline cloud tooling checks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D9E1"/>
                      </a:solidFill>
                      <a:prstDash val="solid"/>
                    </a:lnL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68 passed.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9738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Isolated real-Google acceptance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D9E1"/>
                      </a:solidFill>
                      <a:prstDash val="solid"/>
                    </a:lnL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8 calls across voice, Search and goal persistence flows.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AFAFC"/>
                    </a:solidFill>
                  </a:tcPr>
                </a:tc>
              </a:tr>
              <a:tr h="439738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Authored 39-case review benchmark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D9E1"/>
                      </a:solidFill>
                      <a:prstDash val="solid"/>
                    </a:lnL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7182A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66.67% precision, 73.68% recall, 38.89% case-level FPR.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D9E1"/>
                      </a:solidFill>
                      <a:prstDash val="solid"/>
                    </a:lnR>
                    <a:lnB w="6668">
                      <a:solidFill>
                        <a:srgbClr val="D8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02E74DB-7DF8-4A0D-984C-BA041560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181475"/>
            <a:ext cx="840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7182A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82A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17182A"/>
                </a:solidFill>
                <a:latin typeface="Google Sans Flex"/>
                <a:ea typeface="Google Sans Flex"/>
                <a:cs typeface="Google Sans Flex"/>
              </a:rPr>
              <a:t>Software tests establish tested behaviour, not financial efficacy. The synthetic review benchmark still has misses and false warnings. Independent real-bank validation remains open.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BCC17936-609D-4B4F-A0FA-F4BEDAA6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733925"/>
            <a:ext cx="795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rPr>
              <a:t>Sources: CURRENT_RELEASE.json, FINAL_POLISH_0390.md and VALIDATION_HANDOFF.md in the public repository.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0FE11053-50DF-49E3-AEA8-8BCD94B9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7434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7102174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8" name="Google Shape;148;p25">
            <a:extLst xmlns:a="http://schemas.openxmlformats.org/drawingml/2006/main">
              <a:ext uri="{FF2B5EF4-FFF2-40B4-BE49-F238E27FC236}">
                <a16:creationId xmlns:a16="http://schemas.microsoft.com/office/drawing/2014/main" id="{C6173731-C4D1-4173-A786-642E316D03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a6e21f3a53a4498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9" name="Google Shape;149;p25">
            <a:extLst xmlns:a="http://schemas.openxmlformats.org/drawingml/2006/main">
              <a:ext uri="{FF2B5EF4-FFF2-40B4-BE49-F238E27FC236}">
                <a16:creationId xmlns:a16="http://schemas.microsoft.com/office/drawing/2014/main" id="{9D5060C5-5CC3-48FE-B350-5BF36463EA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633dc7a3b401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8D035A79-20A5-4EC4-A017-B869D77C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1872"/>
            <a:ext cx="9144000" cy="716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>
            <a:extLst xmlns:a="http://schemas.openxmlformats.org/drawingml/2006/main">
              <a:ext uri="{FF2B5EF4-FFF2-40B4-BE49-F238E27FC236}">
                <a16:creationId xmlns:a16="http://schemas.microsoft.com/office/drawing/2014/main" id="{46841582-4BFA-4586-AD01-0758C9A1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10600" cy="5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53748010-464F-447A-87E0-A6ACA495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620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44BB"/>
                </a:solidFill>
                <a:latin typeface="Google Sans Flex SemiBold"/>
                <a:ea typeface="Google Sans Flex SemiBold"/>
                <a:cs typeface="Google Sans Flex SemiBold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844BB"/>
                </a:solidFill>
                <a:latin typeface="Google Sans Flex SemiBold"/>
                <a:ea typeface="Google Sans Flex SemiBold"/>
                <a:cs typeface="Google Sans Flex SemiBold"/>
              </a:defRPr>
            </a:pPr>
            <a:r>
              <a:rPr sz="1425" b="0">
                <a:solidFill>
                  <a:srgbClr val="6844BB"/>
                </a:solidFill>
                <a:latin typeface="Google Sans Flex SemiBold"/>
                <a:ea typeface="Google Sans Flex SemiBold"/>
                <a:cs typeface="Google Sans Flex SemiBold"/>
              </a:rPr>
              <a:t>Next validation priorities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56873F9D-27FA-4E73-86A4-C940D559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90700"/>
            <a:ext cx="3943350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 marL="203200" indent="-101600">
              <a:spcAft>
                <a:spcPts val="1200"/>
              </a:spcAft>
              <a:buChar char="•"/>
              <a:defRPr sz="1425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425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rPr>
              <a:t>Independent, authorised bank-layout and explanation evaluation.</a:t>
            </a:r>
          </a:p>
          <a:p xmlns:a="http://schemas.openxmlformats.org/drawingml/2006/main">
            <a:pPr marL="203200" indent="-101600">
              <a:spcAft>
                <a:spcPts val="1200"/>
              </a:spcAft>
              <a:buChar char="•"/>
              <a:defRPr sz="1425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425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rPr>
              <a:t>Measure task completion, incorrect guidance and warning fatigue.</a:t>
            </a:r>
          </a:p>
          <a:p xmlns:a="http://schemas.openxmlformats.org/drawingml/2006/main">
            <a:pPr marL="203200" indent="-101600">
              <a:spcAft>
                <a:spcPts val="1200"/>
              </a:spcAft>
              <a:buChar char="•"/>
              <a:defRPr sz="1425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425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rPr>
              <a:t>Test multilingual use, accessibility and account-policy variations.</a:t>
            </a:r>
          </a:p>
          <a:p xmlns:a="http://schemas.openxmlformats.org/drawingml/2006/main">
            <a:pPr marL="203200" indent="-101600">
              <a:spcAft>
                <a:spcPts val="1200"/>
              </a:spcAft>
              <a:buChar char="•"/>
              <a:defRPr sz="1425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425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rPr>
              <a:t>Assess consented bank integrations only through authorised partners.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CBB37EBB-FAE9-4126-95E6-00E15979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362075"/>
            <a:ext cx="3933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44BB"/>
                </a:solidFill>
                <a:latin typeface="Google Sans Flex SemiBold"/>
                <a:ea typeface="Google Sans Flex SemiBold"/>
                <a:cs typeface="Google Sans Flex SemiBold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844BB"/>
                </a:solidFill>
                <a:latin typeface="Google Sans Flex SemiBold"/>
                <a:ea typeface="Google Sans Flex SemiBold"/>
                <a:cs typeface="Google Sans Flex SemiBold"/>
              </a:defRPr>
            </a:pPr>
            <a:r>
              <a:rPr sz="1425" b="0">
                <a:solidFill>
                  <a:srgbClr val="6844BB"/>
                </a:solidFill>
                <a:latin typeface="Google Sans Flex SemiBold"/>
                <a:ea typeface="Google Sans Flex SemiBold"/>
                <a:cs typeface="Google Sans Flex SemiBold"/>
              </a:rPr>
              <a:t>Current boundaries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EA7FFA6-A1C0-475D-B5F3-2271F6CA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790700"/>
            <a:ext cx="385762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 marL="203200" indent="-101600">
              <a:spcAft>
                <a:spcPts val="1200"/>
              </a:spcAft>
              <a:buChar char="•"/>
              <a:defRPr sz="1425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425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rPr>
              <a:t>Supported INR PDF/CSV limits apply. Unknown evidence stays unknown.</a:t>
            </a:r>
          </a:p>
          <a:p xmlns:a="http://schemas.openxmlformats.org/drawingml/2006/main">
            <a:pPr marL="203200" indent="-101600">
              <a:spcAft>
                <a:spcPts val="1200"/>
              </a:spcAft>
              <a:buChar char="•"/>
              <a:defRPr sz="1425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425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rPr>
              <a:t>No bank feeds, live balances, payment execution or automatic money recovery.</a:t>
            </a:r>
          </a:p>
          <a:p xmlns:a="http://schemas.openxmlformats.org/drawingml/2006/main">
            <a:pPr marL="203200" indent="-101600">
              <a:spcAft>
                <a:spcPts val="1200"/>
              </a:spcAft>
              <a:buChar char="•"/>
              <a:defRPr sz="1425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425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rPr>
              <a:t>Education and cash planning exclude personalised securities trades.</a:t>
            </a:r>
          </a:p>
          <a:p xmlns:a="http://schemas.openxmlformats.org/drawingml/2006/main">
            <a:pPr marL="203200" indent="-101600">
              <a:spcAft>
                <a:spcPts val="1200"/>
              </a:spcAft>
              <a:buChar char="•"/>
              <a:defRPr sz="1425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425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rPr>
              <a:t>Savings progress is self-reported. No guaranteed returns or outcomes.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98258C4C-E9A0-4E84-8F05-DE9B2A2F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733925"/>
            <a:ext cx="795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rPr>
              <a:t>Goal: a measured consumer pilot before claims of broad banking readiness.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1B579689-6F9C-4689-BA0A-C80905D7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7434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3023102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6" name="Google Shape;156;p26">
            <a:extLst xmlns:a="http://schemas.openxmlformats.org/drawingml/2006/main">
              <a:ext uri="{FF2B5EF4-FFF2-40B4-BE49-F238E27FC236}">
                <a16:creationId xmlns:a16="http://schemas.microsoft.com/office/drawing/2014/main" id="{E2FF7D86-CEC8-450E-9C44-EA1E9F347B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03dbce5123444e6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7" name="Google Shape;157;p26">
            <a:extLst xmlns:a="http://schemas.openxmlformats.org/drawingml/2006/main">
              <a:ext uri="{FF2B5EF4-FFF2-40B4-BE49-F238E27FC236}">
                <a16:creationId xmlns:a16="http://schemas.microsoft.com/office/drawing/2014/main" id="{DF2CC578-2739-46E0-A31E-4552F75F09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e721b813ee4e4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F09F1BF4-FE46-4293-AA38-51827FF5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1872"/>
            <a:ext cx="9144000" cy="716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>
            <a:extLst xmlns:a="http://schemas.openxmlformats.org/drawingml/2006/main">
              <a:ext uri="{FF2B5EF4-FFF2-40B4-BE49-F238E27FC236}">
                <a16:creationId xmlns:a16="http://schemas.microsoft.com/office/drawing/2014/main" id="{A2E3EDD8-8843-4479-8888-1879123C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10600" cy="5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FF6C172D-B170-4C46-8EDD-9898157B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23975"/>
            <a:ext cx="838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7182A"/>
                </a:solidFill>
                <a:latin typeface="Google Sans Flex SemiBold"/>
                <a:ea typeface="Google Sans Flex SemiBold"/>
                <a:cs typeface="Google Sans Flex SemiBold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82A"/>
                </a:solidFill>
                <a:latin typeface="Google Sans Flex SemiBold"/>
                <a:ea typeface="Google Sans Flex SemiBold"/>
                <a:cs typeface="Google Sans Flex SemiBold"/>
              </a:defRPr>
            </a:pPr>
            <a:r>
              <a:rPr sz="1350" b="0">
                <a:solidFill>
                  <a:srgbClr val="17182A"/>
                </a:solidFill>
                <a:latin typeface="Google Sans Flex SemiBold"/>
                <a:ea typeface="Google Sans Flex SemiBold"/>
                <a:cs typeface="Google Sans Flex SemiBold"/>
              </a:rPr>
              <a:t>GitHub Public Repository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D27D8559-2ACF-4BAF-A641-2598E5F9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609725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44BB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44BB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 b="0">
                <a:solidFill>
                  <a:srgbClr val="6844BB"/>
                </a:solidFill>
                <a:latin typeface="Google Sans Flex"/>
                <a:ea typeface="Google Sans Flex"/>
                <a:cs typeface="Google Sans Flex"/>
                <a:hlinkClick xmlns:r="http://schemas.openxmlformats.org/officeDocument/2006/relationships" r:id="R1d4cbcca4fa64a36"/>
              </a:rPr>
              <a:t>https://github.com/Santxsh27/financial-friday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4C3E7940-D3EF-4305-A9D0-95228DB7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105025"/>
            <a:ext cx="838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7182A"/>
                </a:solidFill>
                <a:latin typeface="Google Sans Flex SemiBold"/>
                <a:ea typeface="Google Sans Flex SemiBold"/>
                <a:cs typeface="Google Sans Flex SemiBold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82A"/>
                </a:solidFill>
                <a:latin typeface="Google Sans Flex SemiBold"/>
                <a:ea typeface="Google Sans Flex SemiBold"/>
                <a:cs typeface="Google Sans Flex SemiBold"/>
              </a:defRPr>
            </a:pPr>
            <a:r>
              <a:rPr sz="1350" b="0">
                <a:solidFill>
                  <a:srgbClr val="17182A"/>
                </a:solidFill>
                <a:latin typeface="Google Sans Flex SemiBold"/>
                <a:ea typeface="Google Sans Flex SemiBold"/>
                <a:cs typeface="Google Sans Flex SemiBold"/>
              </a:rPr>
              <a:t>Final Product Link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00EA653B-604F-4469-824B-D1EE118A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390775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44BB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44BB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 b="0">
                <a:solidFill>
                  <a:srgbClr val="6844BB"/>
                </a:solidFill>
                <a:latin typeface="Google Sans Flex"/>
                <a:ea typeface="Google Sans Flex"/>
                <a:cs typeface="Google Sans Flex"/>
                <a:hlinkClick xmlns:r="http://schemas.openxmlformats.org/officeDocument/2006/relationships" r:id="R28ffb8c99a0e4635"/>
              </a:rPr>
              <a:t>https://financial-friday-web-171681243260.asia-south1.run.app/#home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FA58D611-0DDB-48A9-ACBA-3FEE050A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905125"/>
            <a:ext cx="842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7182A"/>
                </a:solidFill>
                <a:latin typeface="Google Sans Flex SemiBold"/>
                <a:ea typeface="Google Sans Flex SemiBold"/>
                <a:cs typeface="Google Sans Flex SemiBold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82A"/>
                </a:solidFill>
                <a:latin typeface="Google Sans Flex SemiBold"/>
                <a:ea typeface="Google Sans Flex SemiBold"/>
                <a:cs typeface="Google Sans Flex SemiBold"/>
              </a:defRPr>
            </a:pPr>
            <a:r>
              <a:rPr sz="1350" b="0">
                <a:solidFill>
                  <a:srgbClr val="17182A"/>
                </a:solidFill>
                <a:latin typeface="Google Sans Flex SemiBold"/>
                <a:ea typeface="Google Sans Flex SemiBold"/>
                <a:cs typeface="Google Sans Flex SemiBold"/>
              </a:rPr>
              <a:t>Demo Video Link (3–4 minutes)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E826195E-DCA8-41EA-BC1E-C38046C5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09925"/>
            <a:ext cx="842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rPr>
              <a:t>Video link will be supplied separately in the submission form after recording.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43D3166C-406D-420C-B202-418E5FE9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19525"/>
            <a:ext cx="838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7182A"/>
                </a:solidFill>
                <a:latin typeface="Google Sans Flex SemiBold"/>
                <a:ea typeface="Google Sans Flex SemiBold"/>
                <a:cs typeface="Google Sans Flex SemiBold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82A"/>
                </a:solidFill>
                <a:latin typeface="Google Sans Flex SemiBold"/>
                <a:ea typeface="Google Sans Flex SemiBold"/>
                <a:cs typeface="Google Sans Flex SemiBold"/>
              </a:defRPr>
            </a:pPr>
            <a:r>
              <a:rPr sz="1350" b="0">
                <a:solidFill>
                  <a:srgbClr val="17182A"/>
                </a:solidFill>
                <a:latin typeface="Google Sans Flex SemiBold"/>
                <a:ea typeface="Google Sans Flex SemiBold"/>
                <a:cs typeface="Google Sans Flex SemiBold"/>
              </a:rPr>
              <a:t>Walkthrough and artificial statement downloads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196F54B7-ABD8-4572-A760-505709EA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105275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44BB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44BB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 b="0">
                <a:solidFill>
                  <a:srgbClr val="6844BB"/>
                </a:solidFill>
                <a:latin typeface="Google Sans Flex"/>
                <a:ea typeface="Google Sans Flex"/>
                <a:cs typeface="Google Sans Flex"/>
                <a:hlinkClick xmlns:r="http://schemas.openxmlformats.org/officeDocument/2006/relationships" r:id="R1620c48a98744e60"/>
              </a:rPr>
              <a:t>https://financial-friday-web-171681243260.asia-south1.run.app/assets/friday-judge-guide.html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D4469A65-09BF-4170-B889-6BF19D7E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733925"/>
            <a:ext cx="795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rPr>
              <a:t>Product requires Google sign-in. Source and judge samples are public.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9C94EE7B-6E1D-4462-A85F-9C23A658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7434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9106540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4" name="Google Shape;164;p27">
            <a:extLst xmlns:a="http://schemas.openxmlformats.org/drawingml/2006/main">
              <a:ext uri="{FF2B5EF4-FFF2-40B4-BE49-F238E27FC236}">
                <a16:creationId xmlns:a16="http://schemas.microsoft.com/office/drawing/2014/main" id="{C51A70C1-D037-4CE3-B950-777D85439D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582dbfa8033429e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5" name="Google Shape;165;p27">
            <a:extLst xmlns:a="http://schemas.openxmlformats.org/drawingml/2006/main">
              <a:ext uri="{FF2B5EF4-FFF2-40B4-BE49-F238E27FC236}">
                <a16:creationId xmlns:a16="http://schemas.microsoft.com/office/drawing/2014/main" id="{8F9A72DA-E9AC-40C3-A094-B77756D1C8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c8f29d6ba1422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6" name="Google Shape;166;p27">
            <a:extLst xmlns:a="http://schemas.openxmlformats.org/drawingml/2006/main">
              <a:ext uri="{FF2B5EF4-FFF2-40B4-BE49-F238E27FC236}">
                <a16:creationId xmlns:a16="http://schemas.microsoft.com/office/drawing/2014/main" id="{3F180C7E-F074-4B3D-AB2A-C09A93EE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1872"/>
            <a:ext cx="9144000" cy="716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0FA86A03-5C5C-4A38-A6B8-6F5404B8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10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600" b="0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00" b="0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</a:rPr>
              <a:t>Judge quick start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3CB5AF3A-F54D-46CD-9F26-B0464883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23975"/>
            <a:ext cx="8382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182A"/>
                </a:solidFill>
                <a:latin typeface="Google Sans Flex SemiBold"/>
                <a:ea typeface="Google Sans Flex SemiBold"/>
                <a:cs typeface="Google Sans Flex SemiBold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182A"/>
                </a:solidFill>
                <a:latin typeface="Google Sans Flex SemiBold"/>
                <a:ea typeface="Google Sans Flex SemiBold"/>
                <a:cs typeface="Google Sans Flex SemiBold"/>
              </a:defRPr>
            </a:pPr>
            <a:r>
              <a:rPr sz="2025" b="0">
                <a:solidFill>
                  <a:srgbClr val="17182A"/>
                </a:solidFill>
                <a:latin typeface="Google Sans Flex SemiBold"/>
                <a:ea typeface="Google Sans Flex SemiBold"/>
                <a:cs typeface="Google Sans Flex SemiBold"/>
              </a:rPr>
              <a:t>Five-minute walkthrough with artificial data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1DAFBA21-658D-4DF5-8777-160DAADF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14525"/>
            <a:ext cx="82867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 marL="203200" indent="-101600">
              <a:spcAft>
                <a:spcPts val="1200"/>
              </a:spcAft>
              <a:buChar char="•"/>
              <a:defRPr sz="150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rPr>
              <a:t>Open the product and sign in with a Google account. Check My account.</a:t>
            </a:r>
          </a:p>
          <a:p xmlns:a="http://schemas.openxmlformats.org/drawingml/2006/main">
            <a:pPr marL="203200" indent="-101600">
              <a:spcAft>
                <a:spcPts val="1200"/>
              </a:spcAft>
              <a:buChar char="•"/>
              <a:defRPr sz="150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rPr>
              <a:t>Use Try a sample, then add one six-month artificial CSV and review the rows.</a:t>
            </a:r>
          </a:p>
          <a:p xmlns:a="http://schemas.openxmlformats.org/drawingml/2006/main">
            <a:pPr marL="203200" indent="-101600">
              <a:spcAft>
                <a:spcPts val="1200"/>
              </a:spcAft>
              <a:buChar char="•"/>
              <a:defRPr sz="150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rPr>
              <a:t>Compare 42 entries, INR3,00,000 in and INR1,64,694 out before saving.</a:t>
            </a:r>
          </a:p>
          <a:p xmlns:a="http://schemas.openxmlformats.org/drawingml/2006/main">
            <a:pPr marL="203200" indent="-101600">
              <a:spcAft>
                <a:spcPts val="1200"/>
              </a:spcAft>
              <a:buChar char="•"/>
              <a:defRPr sz="150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rPr>
              <a:t>Ask Friday about spending, or describe a goal and continue with Gemini.</a:t>
            </a:r>
          </a:p>
          <a:p xmlns:a="http://schemas.openxmlformats.org/drawingml/2006/main">
            <a:pPr marL="203200" indent="-101600">
              <a:spcAft>
                <a:spcPts val="1200"/>
              </a:spcAft>
              <a:buChar char="•"/>
              <a:defRPr sz="1500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rPr>
              <a:t>Review the visual roadmap. Confirm saving only if you want to keep it.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538E2AE4-2C08-4880-A99E-E2C2F348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28625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 b="0">
                <a:solidFill>
                  <a:srgbClr val="363A4C"/>
                </a:solidFill>
                <a:latin typeface="Google Sans Flex"/>
                <a:ea typeface="Google Sans Flex"/>
                <a:cs typeface="Google Sans Flex"/>
              </a:rPr>
              <a:t>The judge kit contains five header families for the same invented activity. Test one at a time. Bank labels describe illustrative layouts, not certified exports.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D84FC1D6-3DBA-41C0-B46D-BF95612D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733925"/>
            <a:ext cx="795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rPr>
              <a:t>Never upload real private banking records for a public demonstration.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8F90A1A9-B961-494E-8FC4-B93E1994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7434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900" b="0">
                <a:solidFill>
                  <a:srgbClr val="636777"/>
                </a:solidFill>
                <a:latin typeface="Google Sans Flex"/>
                <a:ea typeface="Google Sans Flex"/>
                <a:cs typeface="Google Sans Flex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0310941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1" name="Google Shape;171;p28">
            <a:extLst xmlns:a="http://schemas.openxmlformats.org/drawingml/2006/main">
              <a:ext uri="{FF2B5EF4-FFF2-40B4-BE49-F238E27FC236}">
                <a16:creationId xmlns:a16="http://schemas.microsoft.com/office/drawing/2014/main" id="{E57721DC-82F9-4348-B8B2-3FD0BBA590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64cc2191d6145c1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2" name="Google Shape;172;p28">
            <a:extLst xmlns:a="http://schemas.openxmlformats.org/drawingml/2006/main">
              <a:ext uri="{FF2B5EF4-FFF2-40B4-BE49-F238E27FC236}">
                <a16:creationId xmlns:a16="http://schemas.microsoft.com/office/drawing/2014/main" id="{428509F7-DB81-4991-B8E0-E841E9C427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8a6aa6e43f41d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1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650439861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2026-10-18T15:09:20.0200000Z</dcterms:created>
  <dcterms:modified xsi:type="dcterms:W3CDTF">2026-10-18T15:09:20.0200000Z</dcterms:modified>
</coreProperties>
</file>