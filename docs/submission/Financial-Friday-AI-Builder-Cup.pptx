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5ef00b3df284adf" /><Relationship Type="http://schemas.openxmlformats.org/officeDocument/2006/relationships/extended-properties" Target="/docProps/app.xml" Id="Rbade1a4c38194258" /><Relationship Type="http://schemas.openxmlformats.org/officeDocument/2006/relationships/officeDocument" Target="/ppt/presentation.xml" Id="Rdae9282adef5496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0ca9532241842fb"/>
  </p:sldMasterIdLst>
  <p:notesMasterIdLst>
    <p:notesMasterId xmlns:r="http://schemas.openxmlformats.org/officeDocument/2006/relationships" r:id="R3978441f237542db"/>
  </p:notesMasterIdLst>
  <p:sldIdLst>
    <p:sldId xmlns:r="http://schemas.openxmlformats.org/officeDocument/2006/relationships" id="256" r:id="Ra1793bfe826f4e48"/>
    <p:sldId xmlns:r="http://schemas.openxmlformats.org/officeDocument/2006/relationships" id="257" r:id="Ra05ea0cdeea84051"/>
    <p:sldId xmlns:r="http://schemas.openxmlformats.org/officeDocument/2006/relationships" id="258" r:id="R982ed47a62154ec2"/>
    <p:sldId xmlns:r="http://schemas.openxmlformats.org/officeDocument/2006/relationships" id="259" r:id="R26ac24588e0543ba"/>
    <p:sldId xmlns:r="http://schemas.openxmlformats.org/officeDocument/2006/relationships" id="260" r:id="R93e575f4e1414992"/>
    <p:sldId xmlns:r="http://schemas.openxmlformats.org/officeDocument/2006/relationships" id="261" r:id="R60f1d8a442114d86"/>
    <p:sldId xmlns:r="http://schemas.openxmlformats.org/officeDocument/2006/relationships" id="262" r:id="R509f01c7b99e45e2"/>
    <p:sldId xmlns:r="http://schemas.openxmlformats.org/officeDocument/2006/relationships" id="263" r:id="R7ef04f5a123c4145"/>
    <p:sldId xmlns:r="http://schemas.openxmlformats.org/officeDocument/2006/relationships" id="264" r:id="R9ceee2a61589458a"/>
    <p:sldId xmlns:r="http://schemas.openxmlformats.org/officeDocument/2006/relationships" id="265" r:id="R2043f53167734ae4"/>
    <p:sldId xmlns:r="http://schemas.openxmlformats.org/officeDocument/2006/relationships" id="266" r:id="Rf44c2fb8b97f4745"/>
    <p:sldId xmlns:r="http://schemas.openxmlformats.org/officeDocument/2006/relationships" id="267" r:id="R5910055ebe5742fe"/>
    <p:sldId xmlns:r="http://schemas.openxmlformats.org/officeDocument/2006/relationships" id="268" r:id="R49fd2a8ba4b84007"/>
    <p:sldId xmlns:r="http://schemas.openxmlformats.org/officeDocument/2006/relationships" id="269" r:id="Ra2dea0535f124d0d"/>
    <p:sldId xmlns:r="http://schemas.openxmlformats.org/officeDocument/2006/relationships" id="270" r:id="R277fc6b9e8034158"/>
    <p:sldId xmlns:r="http://schemas.openxmlformats.org/officeDocument/2006/relationships" id="271" r:id="Rf8d8eac7ec6e4d1a"/>
  </p:sldIdLst>
  <p:sldSz cx="9144000" cy="5143500"/>
  <p:notesSz cx="6858000" cy="9144000"/>
  <p:defaultTextStyle>
    <a:def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None/>
    </a:defPPr>
    <a:lvl1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fd5930079254597" /><Relationship Type="http://schemas.openxmlformats.org/officeDocument/2006/relationships/slideMaster" Target="/ppt/slideMasters/slideMaster1.xml" Id="R30ca9532241842fb" /><Relationship Type="http://schemas.openxmlformats.org/officeDocument/2006/relationships/notesMaster" Target="/ppt/notesMasters/notesMaster1.xml" Id="R3978441f237542db" /><Relationship Type="http://schemas.openxmlformats.org/officeDocument/2006/relationships/presProps" Target="/ppt/presProps.xml" Id="Rcfc71d1fee304db8" /><Relationship Type="http://schemas.openxmlformats.org/officeDocument/2006/relationships/viewProps" Target="/ppt/viewProps.xml" Id="Rdd3ed6a018134e92" /><Relationship Type="http://schemas.openxmlformats.org/officeDocument/2006/relationships/tableStyles" Target="/ppt/tableStyles.xml" Id="Rbd41a32d927144e9" /><Relationship Type="http://schemas.openxmlformats.org/officeDocument/2006/relationships/slide" Target="/ppt/slides/slide1.xml" Id="Ra1793bfe826f4e48" /><Relationship Type="http://schemas.openxmlformats.org/officeDocument/2006/relationships/slide" Target="/ppt/slides/slide2.xml" Id="Ra05ea0cdeea84051" /><Relationship Type="http://schemas.openxmlformats.org/officeDocument/2006/relationships/slide" Target="/ppt/slides/slide3.xml" Id="R982ed47a62154ec2" /><Relationship Type="http://schemas.openxmlformats.org/officeDocument/2006/relationships/slide" Target="/ppt/slides/slide4.xml" Id="R26ac24588e0543ba" /><Relationship Type="http://schemas.openxmlformats.org/officeDocument/2006/relationships/slide" Target="/ppt/slides/slide5.xml" Id="R93e575f4e1414992" /><Relationship Type="http://schemas.openxmlformats.org/officeDocument/2006/relationships/slide" Target="/ppt/slides/slide6.xml" Id="R60f1d8a442114d86" /><Relationship Type="http://schemas.openxmlformats.org/officeDocument/2006/relationships/slide" Target="/ppt/slides/slide7.xml" Id="R509f01c7b99e45e2" /><Relationship Type="http://schemas.openxmlformats.org/officeDocument/2006/relationships/slide" Target="/ppt/slides/slide8.xml" Id="R7ef04f5a123c4145" /><Relationship Type="http://schemas.openxmlformats.org/officeDocument/2006/relationships/slide" Target="/ppt/slides/slide9.xml" Id="R9ceee2a61589458a" /><Relationship Type="http://schemas.openxmlformats.org/officeDocument/2006/relationships/slide" Target="/ppt/slides/slide10.xml" Id="R2043f53167734ae4" /><Relationship Type="http://schemas.openxmlformats.org/officeDocument/2006/relationships/slide" Target="/ppt/slides/slide11.xml" Id="Rf44c2fb8b97f4745" /><Relationship Type="http://schemas.openxmlformats.org/officeDocument/2006/relationships/slide" Target="/ppt/slides/slide12.xml" Id="R5910055ebe5742fe" /><Relationship Type="http://schemas.openxmlformats.org/officeDocument/2006/relationships/slide" Target="/ppt/slides/slide13.xml" Id="R49fd2a8ba4b84007" /><Relationship Type="http://schemas.openxmlformats.org/officeDocument/2006/relationships/slide" Target="/ppt/slides/slide14.xml" Id="Ra2dea0535f124d0d" /><Relationship Type="http://schemas.openxmlformats.org/officeDocument/2006/relationships/slide" Target="/ppt/slides/slide15.xml" Id="R277fc6b9e8034158" /><Relationship Type="http://schemas.openxmlformats.org/officeDocument/2006/relationships/slide" Target="/ppt/slides/slide16.xml" Id="Rf8d8eac7ec6e4d1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5fa76f41b2841b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88b5d1d8b254962" /><Relationship Type="http://schemas.openxmlformats.org/officeDocument/2006/relationships/notesMaster" Target="/ppt/notesMasters/notesMaster1.xml" Id="Re783dd4f8be143f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956e8e699074a31" /><Relationship Type="http://schemas.openxmlformats.org/officeDocument/2006/relationships/notesMaster" Target="/ppt/notesMasters/notesMaster1.xml" Id="R71d65a7a1eea437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a63f61fb68f41b5" /><Relationship Type="http://schemas.openxmlformats.org/officeDocument/2006/relationships/notesMaster" Target="/ppt/notesMasters/notesMaster1.xml" Id="Rf49c9a9dcf5b4b7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b40ce036247492f" /><Relationship Type="http://schemas.openxmlformats.org/officeDocument/2006/relationships/notesMaster" Target="/ppt/notesMasters/notesMaster1.xml" Id="R765d2d29fe52477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ccd7b9531ef40bb" /><Relationship Type="http://schemas.openxmlformats.org/officeDocument/2006/relationships/notesMaster" Target="/ppt/notesMasters/notesMaster1.xml" Id="R7534b17ee282496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6e52233ae584a83" /><Relationship Type="http://schemas.openxmlformats.org/officeDocument/2006/relationships/notesMaster" Target="/ppt/notesMasters/notesMaster1.xml" Id="R3f4d90a4325f49f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f57cd5fcafc4620" /><Relationship Type="http://schemas.openxmlformats.org/officeDocument/2006/relationships/notesMaster" Target="/ppt/notesMasters/notesMaster1.xml" Id="R8a8e7ad8d9f64ea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4513a26a5634b46" /><Relationship Type="http://schemas.openxmlformats.org/officeDocument/2006/relationships/notesMaster" Target="/ppt/notesMasters/notesMaster1.xml" Id="R6f376e09d0094d5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dd7aebfb95447fd" /><Relationship Type="http://schemas.openxmlformats.org/officeDocument/2006/relationships/notesMaster" Target="/ppt/notesMasters/notesMaster1.xml" Id="R280e9ece6c9c4b3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7367b33d3c34ba9" /><Relationship Type="http://schemas.openxmlformats.org/officeDocument/2006/relationships/notesMaster" Target="/ppt/notesMasters/notesMaster1.xml" Id="Ra20bd5bba5d1425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d5c5b23d0c846b3" /><Relationship Type="http://schemas.openxmlformats.org/officeDocument/2006/relationships/notesMaster" Target="/ppt/notesMasters/notesMaster1.xml" Id="Rb81343844486423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597abd6a45e4cc8" /><Relationship Type="http://schemas.openxmlformats.org/officeDocument/2006/relationships/notesMaster" Target="/ppt/notesMasters/notesMaster1.xml" Id="R5b7762e1d37f452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fcfa17085d8461f" /><Relationship Type="http://schemas.openxmlformats.org/officeDocument/2006/relationships/notesMaster" Target="/ppt/notesMasters/notesMaster1.xml" Id="R198f5c6b183c479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4ca51b6ca5f4e77" /><Relationship Type="http://schemas.openxmlformats.org/officeDocument/2006/relationships/notesMaster" Target="/ppt/notesMasters/notesMaster1.xml" Id="R33625b33c38b429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bad1fc7fb05446c" /><Relationship Type="http://schemas.openxmlformats.org/officeDocument/2006/relationships/notesMaster" Target="/ppt/notesMasters/notesMaster1.xml" Id="R6b4622ddc6fb49c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1a28a296eb84c65" /><Relationship Type="http://schemas.openxmlformats.org/officeDocument/2006/relationships/notesMaster" Target="/ppt/notesMasters/notesMaster1.xml" Id="Rc236a339da4149a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Financial Friday v0.39.0. Source: https://github.com/Santxsh27/financial-friday/blob/main/README.md ; release evidence: https://github.com/Santxsh27/financial-friday/blob/main/docs/CURRENT_RELEASE.json ; https://github.com/Santxsh27/financial-friday/blob/main/docs/FINAL_POLISH_0390.md . Evidence checked 18 October 2026. All displayed financial examples are artificial. No bank integration or guaranteed financial outcome.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participant confirmed the registered team name is Financial Friday on 18 October 2026. Team leader: Santosh Ramesh.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Financial Friday v0.39.0. Source: https://github.com/Santxsh27/financial-friday/blob/main/README.md ; release evidence: https://github.com/Santxsh27/financial-friday/blob/main/docs/CURRENT_RELEASE.json ; https://github.com/Santxsh27/financial-friday/blob/main/docs/FINAL_POLISH_0390.md . Evidence checked 18 October 2026. All displayed financial examples are artificial. No bank integration or guaranteed financial outcome.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Official template instruction retained. The organiser master remains unchanged.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Financial Friday v0.39.0. Source: https://github.com/Santxsh27/financial-friday/blob/main/README.md ; release evidence: https://github.com/Santxsh27/financial-friday/blob/main/docs/CURRENT_RELEASE.json ; https://github.com/Santxsh27/financial-friday/blob/main/docs/FINAL_POLISH_0390.md . Evidence checked 18 October 2026. All displayed financial examples are artificial. No bank integration or guaranteed financial outcome.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Financial Friday v0.39.0. Source: https://github.com/Santxsh27/financial-friday/blob/main/README.md ; release evidence: https://github.com/Santxsh27/financial-friday/blob/main/docs/CURRENT_RELEASE.json ; https://github.com/Santxsh27/financial-friday/blob/main/docs/FINAL_POLISH_0390.md . Evidence checked 18 October 2026. All displayed financial examples are artificial. No bank integration or guaranteed financial outcome.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Financial Friday v0.39.0. Source: https://github.com/Santxsh27/financial-friday/blob/main/README.md ; release evidence: https://github.com/Santxsh27/financial-friday/blob/main/docs/CURRENT_RELEASE.json ; https://github.com/Santxsh27/financial-friday/blob/main/docs/FINAL_POLISH_0390.md . Evidence checked 18 October 2026. All displayed financial examples are artificial. No bank integration or guaranteed financial outcome.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Financial Friday v0.39.0. Source: https://github.com/Santxsh27/financial-friday/blob/main/README.md ; release evidence: https://github.com/Santxsh27/financial-friday/blob/main/docs/CURRENT_RELEASE.json ; https://github.com/Santxsh27/financial-friday/blob/main/docs/FINAL_POLISH_0390.md . Evidence checked 18 October 2026. All displayed financial examples are artificial. No bank integration or guaranteed financial outcome.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Financial Friday v0.39.0. Source: https://github.com/Santxsh27/financial-friday/blob/main/README.md ; release evidence: https://github.com/Santxsh27/financial-friday/blob/main/docs/CURRENT_RELEASE.json ; https://github.com/Santxsh27/financial-friday/blob/main/docs/FINAL_POLISH_0390.md . Evidence checked 18 October 2026. All displayed financial examples are artificial. No bank integration or guaranteed financial outcome.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Screenshot: docs/images and local 0.39.0 demonstration, artificial data. This is an implemented screen, not a proposed mockup.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Financial Friday v0.39.0. Source: https://github.com/Santxsh27/financial-friday/blob/main/README.md ; release evidence: https://github.com/Santxsh27/financial-friday/blob/main/docs/CURRENT_RELEASE.json ; https://github.com/Santxsh27/financial-friday/blob/main/docs/FINAL_POLISH_0390.md . Evidence checked 18 October 2026. All displayed financial examples are artificial. No bank integration or guaranteed financial outcome.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Architecture: https://github.com/Santxsh27/financial-friday/blob/main/ARCHITECTURE_GUIDE.md . Cloud Tasks is a separate legacy journal-only recovery path, outside this consumer diagram. Firebase is not used.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Financial Friday v0.39.0. Source: https://github.com/Santxsh27/financial-friday/blob/main/README.md ; release evidence: https://github.com/Santxsh27/financial-friday/blob/main/docs/CURRENT_RELEASE.json ; https://github.com/Santxsh27/financial-friday/blob/main/docs/FINAL_POLISH_0390.md . Evidence checked 18 October 2026. All displayed financial examples are artificial. No bank integration or guaranteed financial outcome.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Configured runtime: gemini-3.5-flash-lite, Gemini TTS gemini-2.5-flash-tts. Model availability and trial quota remain operational dependencies.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Financial Friday v0.39.0. Source: https://github.com/Santxsh27/financial-friday/blob/main/README.md ; release evidence: https://github.com/Santxsh27/financial-friday/blob/main/docs/CURRENT_RELEASE.json ; https://github.com/Santxsh27/financial-friday/blob/main/docs/FINAL_POLISH_0390.md . Evidence checked 18 October 2026. All displayed financial examples are artificial. No bank integration or guaranteed financial outcome.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This optional cost section gives the cost model and implemented controls, not a provider quote. Current provider pricing must be checked before a production budget. No billing data or private credit balance is disclosed.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Financial Friday v0.39.0. Source: https://github.com/Santxsh27/financial-friday/blob/main/README.md ; release evidence: https://github.com/Santxsh27/financial-friday/blob/main/docs/CURRENT_RELEASE.json ; https://github.com/Santxsh27/financial-friday/blob/main/docs/FINAL_POLISH_0390.md . Evidence checked 18 October 2026. All displayed financial examples are artificial. No bank integration or guaranteed financial outcome.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Example inputs: monthly income INR50000, living costs excluding debt INR30000, debt INR0, liquid savings INR70000, protected reserve INR50000. Goal INR120000 in12months. Integer paise arithmetic rounds the monthly step upward. Sources: judge-kit/README.md and docs/FINAL_POLISH_0390.md.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Financial Friday v0.39.0. Source: https://github.com/Santxsh27/financial-friday/blob/main/README.md ; release evidence: https://github.com/Santxsh27/financial-friday/blob/main/docs/CURRENT_RELEASE.json ; https://github.com/Santxsh27/financial-friday/blob/main/docs/FINAL_POLISH_0390.md . Evidence checked 18 October 2026. All displayed financial examples are artificial. No bank integration or guaranteed financial outcome.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Counts are v0.39.0 release evidence. The 39-case dataset is authored synthetic review-candidate ground truth, not independently validated fraud labels. FPR is case-level. Eight isolated acceptance calls are additional to a canonical general-question and TTS browser check. Do not infer product accuracy from test counts.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Financial Friday v0.39.0. Source: https://github.com/Santxsh27/financial-friday/blob/main/README.md ; release evidence: https://github.com/Santxsh27/financial-friday/blob/main/docs/CURRENT_RELEASE.json ; https://github.com/Santxsh27/financial-friday/blob/main/docs/FINAL_POLISH_0390.md . Evidence checked 18 October 2026. All displayed financial examples are artificial. No bank integration or guaranteed financial outcome.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Financial Friday v0.39.0. Source: https://github.com/Santxsh27/financial-friday/blob/main/README.md ; release evidence: https://github.com/Santxsh27/financial-friday/blob/main/docs/CURRENT_RELEASE.json ; https://github.com/Santxsh27/financial-friday/blob/main/docs/FINAL_POLISH_0390.md . Evidence checked 18 October 2026. All displayed financial examples are artificial. No bank integration or guaranteed financial outcome.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participant is creating the video separately. The dashboard supplied on18October requires3–4minutes and takes precedence over the older3-minute template label. Add the final public videoURL here before the final submission if available. Official requirements: https://aibuildercup.com/themes.html 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Financial Friday v0.39.0. Source: https://github.com/Santxsh27/financial-friday/blob/main/README.md ; release evidence: https://github.com/Santxsh27/financial-friday/blob/main/docs/CURRENT_RELEASE.json ; https://github.com/Santxsh27/financial-friday/blob/main/docs/FINAL_POLISH_0390.md . Evidence checked 18 October 2026. All displayed financial examples are artificial. No bank integration or guaranteed financial outcome.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Judge guide https://financial-friday-web-171681243260.asia-south1.run.app/assets/friday-judge-guide.html . Public samples https://github.com/Santxsh27/financial-friday/tree/main/judge-kit . Sample sha and controls appear in judge-kit/manifest.json.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Financial Friday v0.39.0. Source: https://github.com/Santxsh27/financial-friday/blob/main/README.md ; release evidence: https://github.com/Santxsh27/financial-friday/blob/main/docs/CURRENT_RELEASE.json ; https://github.com/Santxsh27/financial-friday/blob/main/docs/FINAL_POLISH_0390.md . Evidence checked 18 October 2026. All displayed financial examples are artificial. No bank integration or guaranteed financial outcome.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ec168a7b88460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40727fae4d464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a88cbda21a4f7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ff1bd4b2bc4ba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f4b81bc369459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03a4958a6140c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75b970bc97490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216e0565ad4e9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8bfa800e7c4125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8da0331d0443f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1004f38b504d94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0CA2A9AD-D440-4EA8-BA5F-D9BEC9272818}"/>
              </a:ext>
            </a:extLst>
          </p:cNvPr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FEC3CB22-DCCD-497B-A1F4-833A40584E6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BAB7B8CA-3C62-45C2-A4E6-DD7C2ABF557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8C2E5EED-82D4-4688-9A35-022884E520FF}"/>
              </a:ext>
            </a:extLst>
          </p:cNvPr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4F76A1FF-4E49-4CA6-A48A-60210AB9994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 type="tx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999ECE7C-A7C6-4AAE-8E77-061CE0F847C8}"/>
              </a:ext>
            </a:extLst>
          </p:cNvPr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8F0C578B-A901-4DBC-9FA8-31A1F35F2AC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3AFF421E-5BAD-41E2-BACB-30C4D5EE7B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 type="twoColTx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F98B9857-D9D8-44E1-9102-CF4DD10F2981}"/>
              </a:ext>
            </a:extLst>
          </p:cNvPr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B62DBB57-0CF8-4466-827D-42F5B58A929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BA2EAA76-6F7A-4805-AC7C-672EA9F4EF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5">
            <a:extLst xmlns:a="http://schemas.openxmlformats.org/drawingml/2006/main">
              <a:ext uri="{FF2B5EF4-FFF2-40B4-BE49-F238E27FC236}">
                <a16:creationId xmlns:a16="http://schemas.microsoft.com/office/drawing/2014/main" id="{673C49C6-D5B5-401F-8C18-3473CD8F66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oogle Shape;26;p6">
            <a:extLst xmlns:a="http://schemas.openxmlformats.org/drawingml/2006/main">
              <a:ext uri="{FF2B5EF4-FFF2-40B4-BE49-F238E27FC236}">
                <a16:creationId xmlns:a16="http://schemas.microsoft.com/office/drawing/2014/main" id="{64D8CD1A-6BCC-4013-A2CA-0BF92519C6DC}"/>
              </a:ext>
            </a:extLst>
          </p:cNvPr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6">
            <a:extLst xmlns:a="http://schemas.openxmlformats.org/drawingml/2006/main">
              <a:ext uri="{FF2B5EF4-FFF2-40B4-BE49-F238E27FC236}">
                <a16:creationId xmlns:a16="http://schemas.microsoft.com/office/drawing/2014/main" id="{61FACBB2-C05F-4C07-BCC4-F9AFB6992A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7">
            <a:extLst xmlns:a="http://schemas.openxmlformats.org/drawingml/2006/main">
              <a:ext uri="{FF2B5EF4-FFF2-40B4-BE49-F238E27FC236}">
                <a16:creationId xmlns:a16="http://schemas.microsoft.com/office/drawing/2014/main" id="{E4877BBE-E4DF-404F-A66D-89114261F9F9}"/>
              </a:ext>
            </a:extLst>
          </p:cNvPr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51AB68AB-35DB-449D-990C-15895B8076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1" name="Google Shape;31;p7">
            <a:extLst xmlns:a="http://schemas.openxmlformats.org/drawingml/2006/main">
              <a:ext uri="{FF2B5EF4-FFF2-40B4-BE49-F238E27FC236}">
                <a16:creationId xmlns:a16="http://schemas.microsoft.com/office/drawing/2014/main" id="{1B6E6D97-8F2B-466D-AD88-FEE0264894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8">
            <a:extLst xmlns:a="http://schemas.openxmlformats.org/drawingml/2006/main">
              <a:ext uri="{FF2B5EF4-FFF2-40B4-BE49-F238E27FC236}">
                <a16:creationId xmlns:a16="http://schemas.microsoft.com/office/drawing/2014/main" id="{EEBE3E48-D5E7-4B7C-A5E1-93C0C007368B}"/>
              </a:ext>
            </a:extLst>
          </p:cNvPr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4" name="Google Shape;34;p8">
            <a:extLst xmlns:a="http://schemas.openxmlformats.org/drawingml/2006/main">
              <a:ext uri="{FF2B5EF4-FFF2-40B4-BE49-F238E27FC236}">
                <a16:creationId xmlns:a16="http://schemas.microsoft.com/office/drawing/2014/main" id="{E1D632D8-D281-411F-9136-42C9995C61B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9">
            <a:extLst xmlns:a="http://schemas.openxmlformats.org/drawingml/2006/main">
              <a:ext uri="{FF2B5EF4-FFF2-40B4-BE49-F238E27FC236}">
                <a16:creationId xmlns:a16="http://schemas.microsoft.com/office/drawing/2014/main" id="{5FC6491B-BB84-4B89-9B4C-F8805D635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>
            <a:extLst xmlns:a="http://schemas.openxmlformats.org/drawingml/2006/main">
              <a:ext uri="{FF2B5EF4-FFF2-40B4-BE49-F238E27FC236}">
                <a16:creationId xmlns:a16="http://schemas.microsoft.com/office/drawing/2014/main" id="{6B61E147-1041-4374-97D7-58CCA6FF98C3}"/>
              </a:ext>
            </a:extLst>
          </p:cNvPr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8" name="Google Shape;38;p9">
            <a:extLst xmlns:a="http://schemas.openxmlformats.org/drawingml/2006/main">
              <a:ext uri="{FF2B5EF4-FFF2-40B4-BE49-F238E27FC236}">
                <a16:creationId xmlns:a16="http://schemas.microsoft.com/office/drawing/2014/main" id="{CB829883-3C65-4C8C-98FA-C94B25DEF11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39" name="Google Shape;39;p9">
            <a:extLst xmlns:a="http://schemas.openxmlformats.org/drawingml/2006/main">
              <a:ext uri="{FF2B5EF4-FFF2-40B4-BE49-F238E27FC236}">
                <a16:creationId xmlns:a16="http://schemas.microsoft.com/office/drawing/2014/main" id="{8DDEA0B1-D4FA-49F1-BE04-F9E9CB60057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0" name="Google Shape;40;p9">
            <a:extLst xmlns:a="http://schemas.openxmlformats.org/drawingml/2006/main">
              <a:ext uri="{FF2B5EF4-FFF2-40B4-BE49-F238E27FC236}">
                <a16:creationId xmlns:a16="http://schemas.microsoft.com/office/drawing/2014/main" id="{F58EDCFB-97D5-4508-8CD7-45AC3565BC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0">
            <a:extLst xmlns:a="http://schemas.openxmlformats.org/drawingml/2006/main">
              <a:ext uri="{FF2B5EF4-FFF2-40B4-BE49-F238E27FC236}">
                <a16:creationId xmlns:a16="http://schemas.microsoft.com/office/drawing/2014/main" id="{AA53D02E-2702-4D30-826F-5D3774E1CA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 xmlns:a="http://schemas.openxmlformats.org/drawingml/2006/main"/>
        </p:txBody>
      </p:sp>
      <p:sp>
        <p:nvSpPr>
          <p:cNvPr id="43" name="Google Shape;43;p10">
            <a:extLst xmlns:a="http://schemas.openxmlformats.org/drawingml/2006/main">
              <a:ext uri="{FF2B5EF4-FFF2-40B4-BE49-F238E27FC236}">
                <a16:creationId xmlns:a16="http://schemas.microsoft.com/office/drawing/2014/main" id="{C102DDC7-D794-4C78-AA9B-FC578A1FA4C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11">
            <a:extLst xmlns:a="http://schemas.openxmlformats.org/drawingml/2006/main">
              <a:ext uri="{FF2B5EF4-FFF2-40B4-BE49-F238E27FC236}">
                <a16:creationId xmlns:a16="http://schemas.microsoft.com/office/drawing/2014/main" id="{F30ADC6D-200D-46E2-B193-45D6F8B7AB46}"/>
              </a:ext>
            </a:extLst>
          </p:cNvPr>
          <p:cNvSpPr>
            <a:spLocks xmlns:a="http://schemas.openxmlformats.org/drawingml/2006/main" noGrp="1"/>
          </p:cNvSpPr>
          <p:nvPr>
            <p:ph type="title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6" name="Google Shape;46;p11">
            <a:extLst xmlns:a="http://schemas.openxmlformats.org/drawingml/2006/main">
              <a:ext uri="{FF2B5EF4-FFF2-40B4-BE49-F238E27FC236}">
                <a16:creationId xmlns:a16="http://schemas.microsoft.com/office/drawing/2014/main" id="{CD128C3A-0F0F-42E7-8041-FBD59D292BD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7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C7DCC097-7708-4064-85A7-4B2D399AFD8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2">
            <a:extLst xmlns:a="http://schemas.openxmlformats.org/drawingml/2006/main">
              <a:ext uri="{FF2B5EF4-FFF2-40B4-BE49-F238E27FC236}">
                <a16:creationId xmlns:a16="http://schemas.microsoft.com/office/drawing/2014/main" id="{7EB3DC84-0F65-4B63-A04E-C61261D2D03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617eb2b840845ae" /><Relationship Type="http://schemas.openxmlformats.org/officeDocument/2006/relationships/slideLayout" Target="/ppt/slideLayouts/slideLayout1.xml" Id="R459b7f50c7c94561" /><Relationship Type="http://schemas.openxmlformats.org/officeDocument/2006/relationships/slideLayout" Target="/ppt/slideLayouts/slideLayout2.xml" Id="R8f979d1ffee44d1c" /><Relationship Type="http://schemas.openxmlformats.org/officeDocument/2006/relationships/slideLayout" Target="/ppt/slideLayouts/slideLayout3.xml" Id="R6977e779a9704d80" /><Relationship Type="http://schemas.openxmlformats.org/officeDocument/2006/relationships/slideLayout" Target="/ppt/slideLayouts/slideLayout4.xml" Id="R2be4adaab2e94f3d" /><Relationship Type="http://schemas.openxmlformats.org/officeDocument/2006/relationships/slideLayout" Target="/ppt/slideLayouts/slideLayout5.xml" Id="R3872dfb428454cbf" /><Relationship Type="http://schemas.openxmlformats.org/officeDocument/2006/relationships/slideLayout" Target="/ppt/slideLayouts/slideLayout6.xml" Id="R9559fb38b5954a58" /><Relationship Type="http://schemas.openxmlformats.org/officeDocument/2006/relationships/slideLayout" Target="/ppt/slideLayouts/slideLayout7.xml" Id="R15dbe34aa4fb4372" /><Relationship Type="http://schemas.openxmlformats.org/officeDocument/2006/relationships/slideLayout" Target="/ppt/slideLayouts/slideLayout8.xml" Id="R43432462b2c84c8a" /><Relationship Type="http://schemas.openxmlformats.org/officeDocument/2006/relationships/slideLayout" Target="/ppt/slideLayouts/slideLayout9.xml" Id="Rfb6cad50f6e740ba" /><Relationship Type="http://schemas.openxmlformats.org/officeDocument/2006/relationships/slideLayout" Target="/ppt/slideLayouts/slideLayout10.xml" Id="Rd9a0b42b9a104f3f" /><Relationship Type="http://schemas.openxmlformats.org/officeDocument/2006/relationships/slideLayout" Target="/ppt/slideLayouts/slideLayout11.xml" Id="Rc8efc8d0f1c04afd" 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DF75EA1A-224D-45F7-9BA8-921E106100B4}"/>
              </a:ext>
            </a:extLst>
          </p:cNvPr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8A3A21A6-B12E-4E4C-B639-6996099C7D0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D92EE535-8E20-4D90-A404-D3F46F7C17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59b7f50c7c94561"/>
    <p:sldLayoutId xmlns:r="http://schemas.openxmlformats.org/officeDocument/2006/relationships" id="2147483650" r:id="R8f979d1ffee44d1c"/>
    <p:sldLayoutId xmlns:r="http://schemas.openxmlformats.org/officeDocument/2006/relationships" id="2147483651" r:id="R6977e779a9704d80"/>
    <p:sldLayoutId xmlns:r="http://schemas.openxmlformats.org/officeDocument/2006/relationships" id="2147483652" r:id="R2be4adaab2e94f3d"/>
    <p:sldLayoutId xmlns:r="http://schemas.openxmlformats.org/officeDocument/2006/relationships" id="2147483653" r:id="R3872dfb428454cbf"/>
    <p:sldLayoutId xmlns:r="http://schemas.openxmlformats.org/officeDocument/2006/relationships" id="2147483654" r:id="R9559fb38b5954a58"/>
    <p:sldLayoutId xmlns:r="http://schemas.openxmlformats.org/officeDocument/2006/relationships" id="2147483655" r:id="R15dbe34aa4fb4372"/>
    <p:sldLayoutId xmlns:r="http://schemas.openxmlformats.org/officeDocument/2006/relationships" id="2147483656" r:id="R43432462b2c84c8a"/>
    <p:sldLayoutId xmlns:r="http://schemas.openxmlformats.org/officeDocument/2006/relationships" id="2147483657" r:id="Rfb6cad50f6e740ba"/>
    <p:sldLayoutId xmlns:r="http://schemas.openxmlformats.org/officeDocument/2006/relationships" id="2147483658" r:id="Rd9a0b42b9a104f3f"/>
    <p:sldLayoutId xmlns:r="http://schemas.openxmlformats.org/officeDocument/2006/relationships" id="2147483659" r:id="Rc8efc8d0f1c04afd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129f8c141049d1" /><Relationship Type="http://schemas.openxmlformats.org/officeDocument/2006/relationships/image" Target="/ppt/media/image.png" Id="R7f2624cebe07427b" /><Relationship Type="http://schemas.openxmlformats.org/officeDocument/2006/relationships/image" Target="/ppt/media/image2.png" Id="R71abdf664c6d465f" /><Relationship Type="http://schemas.openxmlformats.org/officeDocument/2006/relationships/notesSlide" Target="/ppt/notesSlides/notesSlide1.xml" Id="Rdef3656f1620429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b4c3a56da74376" /><Relationship Type="http://schemas.openxmlformats.org/officeDocument/2006/relationships/image" Target="/ppt/media/image2.png" Id="Rc156c4ebc1854e3e" /><Relationship Type="http://schemas.openxmlformats.org/officeDocument/2006/relationships/image" Target="/ppt/media/image3.png" Id="R76b3066cba87476d" /><Relationship Type="http://schemas.openxmlformats.org/officeDocument/2006/relationships/notesSlide" Target="/ppt/notesSlides/notesSlide2.xml" Id="R8bb32376917b488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a51e8490a341d9" /><Relationship Type="http://schemas.openxmlformats.org/officeDocument/2006/relationships/image" Target="/ppt/media/image4.png" Id="Rfbc90121c8134291" /><Relationship Type="http://schemas.openxmlformats.org/officeDocument/2006/relationships/image" Target="/ppt/media/image5.png" Id="Rfe5b66c1787e440b" /><Relationship Type="http://schemas.openxmlformats.org/officeDocument/2006/relationships/notesSlide" Target="/ppt/notesSlides/notesSlide3.xml" Id="R73c06d50dd4a473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434e6553ef4c0f" /><Relationship Type="http://schemas.openxmlformats.org/officeDocument/2006/relationships/image" Target="/ppt/media/image2.png" Id="Rc84d9b0583c74447" /><Relationship Type="http://schemas.openxmlformats.org/officeDocument/2006/relationships/image" Target="/ppt/media/image4.png" Id="Rcea386a5c27e468a" /><Relationship Type="http://schemas.openxmlformats.org/officeDocument/2006/relationships/notesSlide" Target="/ppt/notesSlides/notesSlide4.xml" Id="R8dfba8cd69ac4c0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6bfb030f6d4527" /><Relationship Type="http://schemas.openxmlformats.org/officeDocument/2006/relationships/image" Target="/ppt/media/image2.png" Id="R0514b65b39614550" /><Relationship Type="http://schemas.openxmlformats.org/officeDocument/2006/relationships/image" Target="/ppt/media/image4.png" Id="R12c67f9e05ac42e2" /><Relationship Type="http://schemas.openxmlformats.org/officeDocument/2006/relationships/notesSlide" Target="/ppt/notesSlides/notesSlide5.xml" Id="R5ce7ccae48724f8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901d37f99f4335" /><Relationship Type="http://schemas.openxmlformats.org/officeDocument/2006/relationships/image" Target="/ppt/media/image2.png" Id="R7def2edac81147c6" /><Relationship Type="http://schemas.openxmlformats.org/officeDocument/2006/relationships/image" Target="/ppt/media/image4.png" Id="Rb3d764708820472f" /><Relationship Type="http://schemas.openxmlformats.org/officeDocument/2006/relationships/notesSlide" Target="/ppt/notesSlides/notesSlide6.xml" Id="R8298db420cc1411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594c1de4944bbd" /><Relationship Type="http://schemas.openxmlformats.org/officeDocument/2006/relationships/image" Target="/ppt/media/image2.png" Id="R43d69dc84de34095" /><Relationship Type="http://schemas.openxmlformats.org/officeDocument/2006/relationships/image" Target="/ppt/media/image4.png" Id="R88f16454233a4bbe" /><Relationship Type="http://schemas.openxmlformats.org/officeDocument/2006/relationships/image" Target="/ppt/media/image.jpeg" Id="R4916768acfc5440d" /><Relationship Type="http://schemas.openxmlformats.org/officeDocument/2006/relationships/notesSlide" Target="/ppt/notesSlides/notesSlide7.xml" Id="R80115111e2aa43a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1b97e23ce545de" /><Relationship Type="http://schemas.openxmlformats.org/officeDocument/2006/relationships/image" Target="/ppt/media/image2.png" Id="R5da3a388c4114e91" /><Relationship Type="http://schemas.openxmlformats.org/officeDocument/2006/relationships/image" Target="/ppt/media/image4.png" Id="Re72df47393ff4f76" /><Relationship Type="http://schemas.openxmlformats.org/officeDocument/2006/relationships/notesSlide" Target="/ppt/notesSlides/notesSlide8.xml" Id="R674943bdf40a495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a0fb790f974ff5" /><Relationship Type="http://schemas.openxmlformats.org/officeDocument/2006/relationships/image" Target="/ppt/media/image2.png" Id="Re3d25324dfab40f7" /><Relationship Type="http://schemas.openxmlformats.org/officeDocument/2006/relationships/image" Target="/ppt/media/image4.png" Id="R59db2de2e5394bd9" /><Relationship Type="http://schemas.openxmlformats.org/officeDocument/2006/relationships/notesSlide" Target="/ppt/notesSlides/notesSlide9.xml" Id="R8c04d8205532458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a977a231ed44a8" /><Relationship Type="http://schemas.openxmlformats.org/officeDocument/2006/relationships/image" Target="/ppt/media/image2.png" Id="Ra0fcc29461504962" /><Relationship Type="http://schemas.openxmlformats.org/officeDocument/2006/relationships/image" Target="/ppt/media/image4.png" Id="R52bc8e77a8534c1d" /><Relationship Type="http://schemas.openxmlformats.org/officeDocument/2006/relationships/notesSlide" Target="/ppt/notesSlides/notesSlide10.xml" Id="R6630c20ae31c46b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78718ab61640b6" /><Relationship Type="http://schemas.openxmlformats.org/officeDocument/2006/relationships/image" Target="/ppt/media/image2.png" Id="R8cac053ac4d54e1d" /><Relationship Type="http://schemas.openxmlformats.org/officeDocument/2006/relationships/image" Target="/ppt/media/image4.png" Id="Rd447b685717243b0" /><Relationship Type="http://schemas.openxmlformats.org/officeDocument/2006/relationships/image" Target="/ppt/media/image2.jpeg" Id="R4e376ef04e3b4015" /><Relationship Type="http://schemas.openxmlformats.org/officeDocument/2006/relationships/notesSlide" Target="/ppt/notesSlides/notesSlide11.xml" Id="R760ab6568cb24a6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da783151944084" /><Relationship Type="http://schemas.openxmlformats.org/officeDocument/2006/relationships/image" Target="/ppt/media/image2.png" Id="R6d74679e305c40c8" /><Relationship Type="http://schemas.openxmlformats.org/officeDocument/2006/relationships/image" Target="/ppt/media/image4.png" Id="Raaff32627c6f4dee" /><Relationship Type="http://schemas.openxmlformats.org/officeDocument/2006/relationships/notesSlide" Target="/ppt/notesSlides/notesSlide12.xml" Id="R167419671dbb41a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039ee444604189" /><Relationship Type="http://schemas.openxmlformats.org/officeDocument/2006/relationships/image" Target="/ppt/media/image2.png" Id="Rd2d6c5c060bd40f4" /><Relationship Type="http://schemas.openxmlformats.org/officeDocument/2006/relationships/image" Target="/ppt/media/image4.png" Id="R7e2b63c49ec848b4" /><Relationship Type="http://schemas.openxmlformats.org/officeDocument/2006/relationships/notesSlide" Target="/ppt/notesSlides/notesSlide13.xml" Id="R213b5f032ca745b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3f90851ac44122" /><Relationship Type="http://schemas.openxmlformats.org/officeDocument/2006/relationships/image" Target="/ppt/media/image2.png" Id="R5ae899fe85634200" /><Relationship Type="http://schemas.openxmlformats.org/officeDocument/2006/relationships/image" Target="/ppt/media/image4.png" Id="R94a16cfdd70c4506" /><Relationship Type="http://schemas.openxmlformats.org/officeDocument/2006/relationships/hyperlink" Target="https://github.com/Santxsh27/financial-friday" TargetMode="External" Id="R48f3017f3fe64a02" /><Relationship Type="http://schemas.openxmlformats.org/officeDocument/2006/relationships/hyperlink" Target="https://financial-friday-web-171681243260.asia-south1.run.app/#home" TargetMode="External" Id="R9ca480c311aa46bd" /><Relationship Type="http://schemas.openxmlformats.org/officeDocument/2006/relationships/hyperlink" Target="https://financial-friday-web-171681243260.asia-south1.run.app/assets/friday-judge-guide.html" TargetMode="External" Id="R3afacadde2d74474" /><Relationship Type="http://schemas.openxmlformats.org/officeDocument/2006/relationships/notesSlide" Target="/ppt/notesSlides/notesSlide14.xml" Id="Re1a73673314c42c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774b48a201442b" /><Relationship Type="http://schemas.openxmlformats.org/officeDocument/2006/relationships/image" Target="/ppt/media/image2.png" Id="R193d631400854009" /><Relationship Type="http://schemas.openxmlformats.org/officeDocument/2006/relationships/image" Target="/ppt/media/image4.png" Id="R6f38c54d47be4502" /><Relationship Type="http://schemas.openxmlformats.org/officeDocument/2006/relationships/notesSlide" Target="/ppt/notesSlides/notesSlide15.xml" Id="Rfce184165154412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811dcfc2824b3c" /><Relationship Type="http://schemas.openxmlformats.org/officeDocument/2006/relationships/image" Target="/ppt/media/image2.png" Id="R7c7d62de1ab6402c" /><Relationship Type="http://schemas.openxmlformats.org/officeDocument/2006/relationships/image" Target="/ppt/media/image6.png" Id="R614ae2802297410e" /><Relationship Type="http://schemas.openxmlformats.org/officeDocument/2006/relationships/notesSlide" Target="/ppt/notesSlides/notesSlide16.xml" Id="R57d5bdc33aa04c2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Google Shape;54;p13">
            <a:extLst xmlns:a="http://schemas.openxmlformats.org/drawingml/2006/main">
              <a:ext uri="{FF2B5EF4-FFF2-40B4-BE49-F238E27FC236}">
                <a16:creationId xmlns:a16="http://schemas.microsoft.com/office/drawing/2014/main" id="{2151B4DE-F6BA-4F9F-8367-A83BE11F4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2886075"/>
            <a:ext cx="8629650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spcAft>
                <a:spcPts val="1400"/>
              </a:spcAft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Team Details</a:t>
            </a:r>
          </a:p>
          <a:p xmlns:a="http://schemas.openxmlformats.org/drawingml/2006/main"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Team name: Financial Friday</a:t>
            </a:r>
          </a:p>
          <a:p xmlns:a="http://schemas.openxmlformats.org/drawingml/2006/main"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Team leader name: Santosh Ramesh</a:t>
            </a:r>
          </a:p>
          <a:p xmlns:a="http://schemas.openxmlformats.org/drawingml/2006/main"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Problem Statement: BFSI: Intelligent Risk, Fraud &amp; Financial Experiences</a:t>
            </a:r>
          </a:p>
          <a:p xmlns:a="http://schemas.openxmlformats.org/drawingml/2006/main">
            <a: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Solution: Financial Friday</a:t>
            </a:r>
          </a:p>
        </p:txBody>
      </p:sp>
      <p:pic>
        <p:nvPicPr>
          <p:cNvPr id="55" name="Google Shape;55;p13">
            <a:extLst xmlns:a="http://schemas.openxmlformats.org/drawingml/2006/main">
              <a:ext uri="{FF2B5EF4-FFF2-40B4-BE49-F238E27FC236}">
                <a16:creationId xmlns:a16="http://schemas.microsoft.com/office/drawing/2014/main" id="{20A5751A-B9DB-4476-B13B-9C314D2E502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2624cebe07427b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3"/>
            <a:ext cx="9144000" cy="271552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56" name="Google Shape;56;p13">
            <a:extLst xmlns:a="http://schemas.openxmlformats.org/drawingml/2006/main">
              <a:ext uri="{FF2B5EF4-FFF2-40B4-BE49-F238E27FC236}">
                <a16:creationId xmlns:a16="http://schemas.microsoft.com/office/drawing/2014/main" id="{DE98F546-CABC-4AF1-9263-DA2190265E7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1abdf664c6d465f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41222602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1" name="Google Shape;61;p14">
            <a:extLst xmlns:a="http://schemas.openxmlformats.org/drawingml/2006/main">
              <a:ext uri="{FF2B5EF4-FFF2-40B4-BE49-F238E27FC236}">
                <a16:creationId xmlns:a16="http://schemas.microsoft.com/office/drawing/2014/main" id="{D64BB5AC-351B-4B07-8AB3-6B0423FF9DE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156c4ebc1854e3e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2" name="Google Shape;62;p14">
            <a:extLst xmlns:a="http://schemas.openxmlformats.org/drawingml/2006/main">
              <a:ext uri="{FF2B5EF4-FFF2-40B4-BE49-F238E27FC236}">
                <a16:creationId xmlns:a16="http://schemas.microsoft.com/office/drawing/2014/main" id="{096EA0DD-0EF8-4CD5-8A20-9137E270C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>
            <a:extLst xmlns:a="http://schemas.openxmlformats.org/drawingml/2006/main">
              <a:ext uri="{FF2B5EF4-FFF2-40B4-BE49-F238E27FC236}">
                <a16:creationId xmlns:a16="http://schemas.microsoft.com/office/drawing/2014/main" id="{6ABB7602-A141-4CD4-8DC3-D4F2A8EB9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2475" y="1968750"/>
            <a:ext cx="3311400" cy="120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>Note:</a:t>
            </a:r>
            <a:r>
              <a:rPr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 Please download this template to make your edits and submit the final version.</a:t>
            </a:r>
            <a:br>
              <a:rPr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</a:br>
            <a:br>
              <a:rPr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</a:br>
            <a:r>
              <a:rPr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pic>
        <p:nvPicPr>
          <p:cNvPr id="64" name="Google Shape;64;p14">
            <a:extLst xmlns:a="http://schemas.openxmlformats.org/drawingml/2006/main">
              <a:ext uri="{FF2B5EF4-FFF2-40B4-BE49-F238E27FC236}">
                <a16:creationId xmlns:a16="http://schemas.microsoft.com/office/drawing/2014/main" id="{C7F91E4E-E0FF-4973-BF08-B51D1CC545F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b3066cba87476d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24203" y="1194675"/>
            <a:ext cx="3604250" cy="26217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  <a:effectLst xmlns:a="http://schemas.openxmlformats.org/drawingml/2006/main">
            <a:outerShdw blurRad="971550" dist="19050" dir="5400000" algn="bl" rotWithShape="0">
              <a:schemeClr val="lt1">
                <a:alpha val="5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867427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9" name="Google Shape;69;p15">
            <a:extLst xmlns:a="http://schemas.openxmlformats.org/drawingml/2006/main">
              <a:ext uri="{FF2B5EF4-FFF2-40B4-BE49-F238E27FC236}">
                <a16:creationId xmlns:a16="http://schemas.microsoft.com/office/drawing/2014/main" id="{6DE20F31-8ED6-4BCC-AA55-BA293828C93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c90121c8134291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5">
            <a:extLst xmlns:a="http://schemas.openxmlformats.org/drawingml/2006/main">
              <a:ext uri="{FF2B5EF4-FFF2-40B4-BE49-F238E27FC236}">
                <a16:creationId xmlns:a16="http://schemas.microsoft.com/office/drawing/2014/main" id="{F76B714D-D1B5-46F9-8370-A661A594A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2"/>
            <a:ext cx="9144000" cy="716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>
            <a:extLst xmlns:a="http://schemas.openxmlformats.org/drawingml/2006/main">
              <a:ext uri="{FF2B5EF4-FFF2-40B4-BE49-F238E27FC236}">
                <a16:creationId xmlns:a16="http://schemas.microsoft.com/office/drawing/2014/main" id="{1A541959-0BBB-4E54-90FF-F6F91A8D8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0600" cy="5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AE7EADC-5811-49D7-B47F-3F3C35E97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04925"/>
            <a:ext cx="552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defRPr>
            </a:pPr>
            <a:r>
              <a:rPr sz="2550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rPr>
              <a:t>Financial Friday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DC57B15-AB94-446E-9B30-3A706D83E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885950"/>
            <a:ext cx="5381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7182A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718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950" b="0">
                <a:solidFill>
                  <a:srgbClr val="17182A"/>
                </a:solidFill>
                <a:latin typeface="Google Sans Flex"/>
                <a:ea typeface="Google Sans Flex"/>
                <a:cs typeface="Google Sans Flex"/>
              </a:rPr>
              <a:t>A financial buddy that turns statement history into a plan you can follow.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599A344-19AC-4B31-8F6D-FECDEB63B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790825"/>
            <a:ext cx="538162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People can see past transactions, yet still struggle to decide what they can afford next. Friday connects reviewed history to a conversation about their next goal.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DD4CFBF-C8BC-41A6-8DDC-B04577D97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895725"/>
            <a:ext cx="53340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defRPr>
            </a:pPr>
            <a:r>
              <a:rPr sz="1650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rPr>
              <a:t>Reviewed history and a confirmed budget support a visual roadmap with clear assumptions.</a:t>
            </a:r>
          </a:p>
        </p:txBody>
      </p:sp>
      <p:pic>
        <p:nvPic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455EAD5-ADB8-4823-A2B9-C263320FC7D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5b66c1787e440b"/>
          <a:stretch xmlns:a="http://schemas.openxmlformats.org/drawingml/2006/main"/>
        </p:blipFill>
        <p:spPr>
          <a:xfrm xmlns:a="http://schemas.openxmlformats.org/drawingml/2006/main">
            <a:off x="6143625" y="1666875"/>
            <a:ext cx="2476500" cy="2476500"/>
          </a:xfrm>
          <a:prstGeom xmlns:a="http://schemas.openxmlformats.org/drawingml/2006/main" prst="rect">
            <a:avLst/>
          </a:prstGeom>
        </p:spPr>
      </p:pic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29AAB9D-61B1-4D05-A82F-403E976E0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33925"/>
            <a:ext cx="795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India-first financial assistance. No bank credentials or payment authority.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DF4C071-2C19-4E42-A941-20D4FEE77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7434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3351761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6" name="Google Shape;76;p16">
            <a:extLst xmlns:a="http://schemas.openxmlformats.org/drawingml/2006/main">
              <a:ext uri="{FF2B5EF4-FFF2-40B4-BE49-F238E27FC236}">
                <a16:creationId xmlns:a16="http://schemas.microsoft.com/office/drawing/2014/main" id="{F51D850F-4E55-427F-BBE5-F1E5CD3F443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84d9b0583c74447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77" name="Google Shape;77;p16">
            <a:extLst xmlns:a="http://schemas.openxmlformats.org/drawingml/2006/main">
              <a:ext uri="{FF2B5EF4-FFF2-40B4-BE49-F238E27FC236}">
                <a16:creationId xmlns:a16="http://schemas.microsoft.com/office/drawing/2014/main" id="{43AAB0CB-C0A2-4E9E-9930-7D9679D3818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a386a5c27e468a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8" name="Google Shape;78;p16">
            <a:extLst xmlns:a="http://schemas.openxmlformats.org/drawingml/2006/main">
              <a:ext uri="{FF2B5EF4-FFF2-40B4-BE49-F238E27FC236}">
                <a16:creationId xmlns:a16="http://schemas.microsoft.com/office/drawing/2014/main" id="{09DD59E8-2256-4A21-B5A7-C1FF73C51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2"/>
            <a:ext cx="9144000" cy="716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>
            <a:extLst xmlns:a="http://schemas.openxmlformats.org/drawingml/2006/main">
              <a:ext uri="{FF2B5EF4-FFF2-40B4-BE49-F238E27FC236}">
                <a16:creationId xmlns:a16="http://schemas.microsoft.com/office/drawing/2014/main" id="{40C10B6F-2C42-4D19-9ABB-D1137FD45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0600" cy="5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</a:endParaRP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4BD95317-7CBF-4D7B-9826-3AB4863B1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3350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defRPr>
            </a:pPr>
            <a:r>
              <a: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rPr>
              <a:t>How different is it from existing ideas?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4E41496-0CF9-489C-8980-AE1DFFDA1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676400"/>
            <a:ext cx="836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Friday joins reviewed statement explanations and conversational goal planning in one private workspace. Exact code checks each visual cash plan before the user saves it.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24D3DD4-8D3B-44CD-B2E8-2459501D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428875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defRPr>
            </a:pPr>
            <a:r>
              <a: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rPr>
              <a:t>How will it solve the problem?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4CF9C5D-401F-478A-B204-BEE1757FD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771775"/>
            <a:ext cx="836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A supported import organises transaction history. The user confirms budget facts in chat, then Friday tests the goal and its alternatives against that same budget.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0564CE18-28FB-4CF3-91DE-E53716604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5623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defRPr>
            </a:pPr>
            <a:r>
              <a: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rPr>
              <a:t>USP of the proposed solution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E5DE043-EE0D-4A4F-AD62-CBFDAABE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905250"/>
            <a:ext cx="836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Gemini handles language and documents. An independent INR calculation engine preserves the reserve, debt commitments and every monthly rupee. Users can inspect the assumptions.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A2B0AE6-4038-4FDC-9045-F816E599A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33925"/>
            <a:ext cx="795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Combination and execution are the differentiation. No world-first or patent claim.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05B1633-CBAE-4B9A-ABD4-49302D092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7434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50293520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4" name="Google Shape;84;p17">
            <a:extLst xmlns:a="http://schemas.openxmlformats.org/drawingml/2006/main">
              <a:ext uri="{FF2B5EF4-FFF2-40B4-BE49-F238E27FC236}">
                <a16:creationId xmlns:a16="http://schemas.microsoft.com/office/drawing/2014/main" id="{6FF60019-BC16-492A-B882-86DDA8891AF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514b65b39614550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85" name="Google Shape;85;p17">
            <a:extLst xmlns:a="http://schemas.openxmlformats.org/drawingml/2006/main">
              <a:ext uri="{FF2B5EF4-FFF2-40B4-BE49-F238E27FC236}">
                <a16:creationId xmlns:a16="http://schemas.microsoft.com/office/drawing/2014/main" id="{F1A01E14-88C7-4F34-94AB-C0CA91CDE73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c67f9e05ac42e2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6" name="Google Shape;86;p17">
            <a:extLst xmlns:a="http://schemas.openxmlformats.org/drawingml/2006/main">
              <a:ext uri="{FF2B5EF4-FFF2-40B4-BE49-F238E27FC236}">
                <a16:creationId xmlns:a16="http://schemas.microsoft.com/office/drawing/2014/main" id="{B0AF72F6-7B9B-450C-A918-658227F8B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2"/>
            <a:ext cx="9144000" cy="716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>
            <a:extLst xmlns:a="http://schemas.openxmlformats.org/drawingml/2006/main">
              <a:ext uri="{FF2B5EF4-FFF2-40B4-BE49-F238E27FC236}">
                <a16:creationId xmlns:a16="http://schemas.microsoft.com/office/drawing/2014/main" id="{022CB3D9-726B-4E03-88C5-D309097A9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0600" cy="5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2997EE02-1F25-4C11-BBCB-F668E5A45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90650"/>
            <a:ext cx="8267700" cy="3114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 marL="203200" indent="-101600">
              <a:spcAft>
                <a:spcPts val="1200"/>
              </a:spcAft>
              <a:buChar char="•"/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Supported PDF/CSV statements with preview, source checks and reviewed categories.</a:t>
            </a:r>
          </a:p>
          <a:p xmlns:a="http://schemas.openxmlformats.org/drawingml/2006/main">
            <a:pPr marL="203200" indent="-101600">
              <a:spcAft>
                <a:spcPts val="1200"/>
              </a:spcAft>
              <a:buChar char="•"/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Spending charts, transaction references and candidates for the user to review.</a:t>
            </a:r>
          </a:p>
          <a:p xmlns:a="http://schemas.openxmlformats.org/drawingml/2006/main">
            <a:pPr marL="203200" indent="-101600">
              <a:spcAft>
                <a:spcPts val="1200"/>
              </a:spcAft>
              <a:buChar char="•"/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Chat-led purchase, savings and emergency-reserve goals with missing-fact questions.</a:t>
            </a:r>
          </a:p>
          <a:p xmlns:a="http://schemas.openxmlformats.org/drawingml/2006/main">
            <a:pPr marL="203200" indent="-101600">
              <a:spcAft>
                <a:spcPts val="1200"/>
              </a:spcAft>
              <a:buChar char="•"/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Exact allocations, dated checkpoints, pressure scenarios and feasible alternatives.</a:t>
            </a:r>
          </a:p>
          <a:p xmlns:a="http://schemas.openxmlformats.org/drawingml/2006/main">
            <a:pPr marL="203200" indent="-101600">
              <a:spcAft>
                <a:spcPts val="1200"/>
              </a:spcAft>
              <a:buChar char="•"/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Private saved roadmap, self-reported savings updates and Undo.</a:t>
            </a:r>
          </a:p>
          <a:p xmlns:a="http://schemas.openxmlformats.org/drawingml/2006/main">
            <a:pPr marL="203200" indent="-101600">
              <a:spcAft>
                <a:spcPts val="1200"/>
              </a:spcAft>
              <a:buChar char="•"/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Optional Google voice turns and attributed public research, with explicit controls.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98C8D240-F6D1-47AA-938A-54ECAC91D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33925"/>
            <a:ext cx="795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Current consumer journey: statements, money overview, goals and Ask Friday.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05D11918-BCD1-4721-A439-D70A627E8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7434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30451730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769C32C2-4511-4F13-A80C-F57798E6C8BB}"/>
              </a:ext>
            </a:extLst>
          </p:cNvPr>
          <p:cNvCxnSpPr>
            <a:stCxn xmlns:a="http://schemas.openxmlformats.org/drawingml/2006/main" id="102" idx="1"/>
            <a:endCxn xmlns:a="http://schemas.openxmlformats.org/drawingml/2006/main" id="101" idx="3"/>
          </p:cNvCxnSpPr>
          <p:nvPr/>
        </p:nvCxnSpPr>
        <p:spPr>
          <a:xfrm xmlns:a="http://schemas.openxmlformats.org/drawingml/2006/main" flipH="1">
            <a:off x="2828925" y="3295650"/>
            <a:ext cx="50482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844BB"/>
            </a:solidFill>
            <a:tailEnd type="arrow" w="med" len="med"/>
          </a:ln>
        </p:spPr>
      </p:cxnSp>
      <p:cxnSp>
        <p:nvCxn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D4313A8E-97BF-4C1E-AA03-1EDFD362C81C}"/>
              </a:ext>
            </a:extLst>
          </p:cNvPr>
          <p:cNvCxnSpPr>
            <a:stCxn xmlns:a="http://schemas.openxmlformats.org/drawingml/2006/main" id="103" idx="1"/>
            <a:endCxn xmlns:a="http://schemas.openxmlformats.org/drawingml/2006/main" id="102" idx="3"/>
          </p:cNvCxnSpPr>
          <p:nvPr/>
        </p:nvCxnSpPr>
        <p:spPr>
          <a:xfrm xmlns:a="http://schemas.openxmlformats.org/drawingml/2006/main" flipH="1">
            <a:off x="5800725" y="3295650"/>
            <a:ext cx="50482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844BB"/>
            </a:solidFill>
            <a:tailEnd type="arrow" w="med" len="med"/>
          </a:ln>
        </p:spPr>
      </p:cxnSp>
      <p:cxnSp>
        <p:nvCxn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3990C402-4E64-4AA6-8927-560BF5EFAEFD}"/>
              </a:ext>
            </a:extLst>
          </p:cNvPr>
          <p:cNvCxnSpPr>
            <a:stCxn xmlns:a="http://schemas.openxmlformats.org/drawingml/2006/main" id="98" idx="2"/>
            <a:endCxn xmlns:a="http://schemas.openxmlformats.org/drawingml/2006/main" id="103" idx="0"/>
          </p:cNvCxnSpPr>
          <p:nvPr/>
        </p:nvCxnSpPr>
        <p:spPr>
          <a:xfrm xmlns:a="http://schemas.openxmlformats.org/drawingml/2006/main">
            <a:off x="7539038" y="2124075"/>
            <a:ext cx="0" cy="81915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844BB"/>
            </a:solidFill>
            <a:tailEnd type="arrow" w="med" len="med"/>
          </a:ln>
        </p:spPr>
      </p:cxnSp>
      <p:cxnSp>
        <p:nvCxn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9CBB09C7-B228-4775-BA3A-A90BCC3B041E}"/>
              </a:ext>
            </a:extLst>
          </p:cNvPr>
          <p:cNvCxnSpPr>
            <a:stCxn xmlns:a="http://schemas.openxmlformats.org/drawingml/2006/main" id="97" idx="3"/>
            <a:endCxn xmlns:a="http://schemas.openxmlformats.org/drawingml/2006/main" id="98" idx="1"/>
          </p:cNvCxnSpPr>
          <p:nvPr/>
        </p:nvCxnSpPr>
        <p:spPr>
          <a:xfrm xmlns:a="http://schemas.openxmlformats.org/drawingml/2006/main">
            <a:off x="5800725" y="1771650"/>
            <a:ext cx="50482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844BB"/>
            </a:solidFill>
            <a:tailEnd type="arrow" w="med" len="med"/>
          </a:ln>
        </p:spPr>
      </p:cxnSp>
      <p:cxnSp>
        <p:nvCxn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5F4FEACA-3349-4C91-939D-DE5095E69E2E}"/>
              </a:ext>
            </a:extLst>
          </p:cNvPr>
          <p:cNvCxnSpPr>
            <a:stCxn xmlns:a="http://schemas.openxmlformats.org/drawingml/2006/main" id="96" idx="3"/>
            <a:endCxn xmlns:a="http://schemas.openxmlformats.org/drawingml/2006/main" id="97" idx="1"/>
          </p:cNvCxnSpPr>
          <p:nvPr/>
        </p:nvCxnSpPr>
        <p:spPr>
          <a:xfrm xmlns:a="http://schemas.openxmlformats.org/drawingml/2006/main">
            <a:off x="2828925" y="1771650"/>
            <a:ext cx="50482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844BB"/>
            </a:solidFill>
            <a:tailEnd type="arrow" w="med" len="med"/>
          </a:ln>
        </p:spPr>
      </p:cxnSp>
      <p:pic>
        <p:nvPicPr>
          <p:cNvPr id="92" name="Google Shape;92;p18">
            <a:extLst xmlns:a="http://schemas.openxmlformats.org/drawingml/2006/main">
              <a:ext uri="{FF2B5EF4-FFF2-40B4-BE49-F238E27FC236}">
                <a16:creationId xmlns:a16="http://schemas.microsoft.com/office/drawing/2014/main" id="{E73D4098-5306-4BCC-9EAA-FF9230BFC94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def2edac81147c6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93" name="Google Shape;93;p18">
            <a:extLst xmlns:a="http://schemas.openxmlformats.org/drawingml/2006/main">
              <a:ext uri="{FF2B5EF4-FFF2-40B4-BE49-F238E27FC236}">
                <a16:creationId xmlns:a16="http://schemas.microsoft.com/office/drawing/2014/main" id="{49697C2B-70B3-4ADA-939E-24C5E74A032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d764708820472f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4" name="Google Shape;94;p18">
            <a:extLst xmlns:a="http://schemas.openxmlformats.org/drawingml/2006/main">
              <a:ext uri="{FF2B5EF4-FFF2-40B4-BE49-F238E27FC236}">
                <a16:creationId xmlns:a16="http://schemas.microsoft.com/office/drawing/2014/main" id="{3F24488D-B97C-4987-9277-0825237EA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2"/>
            <a:ext cx="9144000" cy="716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>
            <a:extLst xmlns:a="http://schemas.openxmlformats.org/drawingml/2006/main">
              <a:ext uri="{FF2B5EF4-FFF2-40B4-BE49-F238E27FC236}">
                <a16:creationId xmlns:a16="http://schemas.microsoft.com/office/drawing/2014/main" id="{D42FFE40-B808-40EC-9F19-01CEC1F8B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0600" cy="5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7034BEBD-64D8-4304-AA51-17A7F4406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419225"/>
            <a:ext cx="2466975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F1ECFC"/>
          </a:solidFill>
          <a:ln xmlns:a="http://schemas.openxmlformats.org/drawingml/2006/main" w="9525">
            <a:solidFill>
              <a:srgbClr val="D8D9E1"/>
            </a:solidFill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1. Add a supported</a:t>
            </a:r>
          </a:p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PDF or CSV statement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3335569C-252A-4DCC-A8D7-FF58D556D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419225"/>
            <a:ext cx="2466975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F1ECFC"/>
          </a:solidFill>
          <a:ln xmlns:a="http://schemas.openxmlformats.org/drawingml/2006/main" w="9525">
            <a:solidFill>
              <a:srgbClr val="D8D9E1"/>
            </a:solidFill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2. Review extracted rows</a:t>
            </a:r>
          </a:p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or confirm missing facts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660DB7C8-546E-473B-B69A-48E7974C2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419225"/>
            <a:ext cx="2466975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E7F6EE"/>
          </a:solidFill>
          <a:ln xmlns:a="http://schemas.openxmlformats.org/drawingml/2006/main" w="9525">
            <a:solidFill>
              <a:srgbClr val="D8D9E1"/>
            </a:solidFill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3. Save reviewed history</a:t>
            </a:r>
          </a:p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with explicit consent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8B2FD4B2-B236-496D-8EB5-D6AACD1F1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943225"/>
            <a:ext cx="2466975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E7F6EE"/>
          </a:solidFill>
          <a:ln xmlns:a="http://schemas.openxmlformats.org/drawingml/2006/main" w="9525">
            <a:solidFill>
              <a:srgbClr val="D8D9E1"/>
            </a:solidFill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6. Save one roadmap</a:t>
            </a:r>
          </a:p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and report real savings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7F73CDD8-979B-4C4A-905A-974CF32CA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43225"/>
            <a:ext cx="2466975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F1ECFC"/>
          </a:solidFill>
          <a:ln xmlns:a="http://schemas.openxmlformats.org/drawingml/2006/main" w="9525">
            <a:solidFill>
              <a:srgbClr val="D8D9E1"/>
            </a:solidFill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5. Inspect charts, dates</a:t>
            </a:r>
          </a:p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and pressure scenarios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19AFC58F-D95F-4EAD-9C6B-5C3278A84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943225"/>
            <a:ext cx="2466975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F1ECFC"/>
          </a:solidFill>
          <a:ln xmlns:a="http://schemas.openxmlformats.org/drawingml/2006/main" w="9525">
            <a:solidFill>
              <a:srgbClr val="D8D9E1"/>
            </a:solidFill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4. Ask Friday for help</a:t>
            </a:r>
          </a:p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using permitted context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332C296B-E3D4-424F-9936-7D904A946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000500"/>
            <a:ext cx="83153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17182A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18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75" b="0">
                <a:solidFill>
                  <a:srgbClr val="17182A"/>
                </a:solidFill>
                <a:latin typeface="Google Sans Flex"/>
                <a:ea typeface="Google Sans Flex"/>
                <a:cs typeface="Google Sans Flex"/>
              </a:rPr>
              <a:t>AI interprets the request. Exact code checks the result. A failed source check or missing fact returns to review.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9A0F2C5A-1696-42F4-800A-0B379573D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33925"/>
            <a:ext cx="795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A user can plan a goal without importing a statement. No money moves.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F5917CB2-FC5D-4B77-A2BA-8749C7CC1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7434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79945748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0" name="Google Shape;100;p19">
            <a:extLst xmlns:a="http://schemas.openxmlformats.org/drawingml/2006/main">
              <a:ext uri="{FF2B5EF4-FFF2-40B4-BE49-F238E27FC236}">
                <a16:creationId xmlns:a16="http://schemas.microsoft.com/office/drawing/2014/main" id="{9A42581E-4C44-406A-994B-8031B600238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3d69dc84de34095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1" name="Google Shape;101;p19">
            <a:extLst xmlns:a="http://schemas.openxmlformats.org/drawingml/2006/main">
              <a:ext uri="{FF2B5EF4-FFF2-40B4-BE49-F238E27FC236}">
                <a16:creationId xmlns:a16="http://schemas.microsoft.com/office/drawing/2014/main" id="{5E53EC82-3F84-4FC3-83CF-D123CA4252D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f16454233a4bbe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2" name="Google Shape;102;p19">
            <a:extLst xmlns:a="http://schemas.openxmlformats.org/drawingml/2006/main">
              <a:ext uri="{FF2B5EF4-FFF2-40B4-BE49-F238E27FC236}">
                <a16:creationId xmlns:a16="http://schemas.microsoft.com/office/drawing/2014/main" id="{5446FB73-B4B6-41B4-8700-C29252BE3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2"/>
            <a:ext cx="9144000" cy="716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>
            <a:extLst xmlns:a="http://schemas.openxmlformats.org/drawingml/2006/main">
              <a:ext uri="{FF2B5EF4-FFF2-40B4-BE49-F238E27FC236}">
                <a16:creationId xmlns:a16="http://schemas.microsoft.com/office/drawing/2014/main" id="{B854AE00-6EE5-45E3-BE74-C04C45747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0600" cy="5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pic>
        <p:nvPic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05896BF9-C04B-49B9-BA49-B96B8832B5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16768acfc5440d"/>
          <a:stretch xmlns:a="http://schemas.openxmlformats.org/drawingml/2006/main"/>
        </p:blipFill>
        <p:spPr>
          <a:xfrm xmlns:a="http://schemas.openxmlformats.org/drawingml/2006/main">
            <a:off x="365654" y="1333500"/>
            <a:ext cx="5926667" cy="3333750"/>
          </a:xfrm>
          <a:prstGeom xmlns:a="http://schemas.openxmlformats.org/drawingml/2006/main" prst="rect">
            <a:avLst/>
          </a:prstGeom>
        </p:spPr>
      </p:pic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2EF5BEED-A39B-4B16-9DD3-58196E6FD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409700"/>
            <a:ext cx="2143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defRPr>
            </a:pPr>
            <a:r>
              <a: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rPr>
              <a:t>Implemented UI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3FF75DED-6A7C-4925-BD0A-2226D7C8A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809750"/>
            <a:ext cx="2143125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Clear starting actions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Persistent Friday chat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Visible voice controls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Account and privacy menu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799F1F5D-0F8F-4909-A98A-58AFF7B5E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33925"/>
            <a:ext cx="795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Actual local product screen. Artificial workspace only.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2DBC849D-8501-4208-A557-EB2C80FC0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7434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6327029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43D95C17-5D0A-4E50-A5F6-711B244A4092}"/>
              </a:ext>
            </a:extLst>
          </p:cNvPr>
          <p:cNvCxnSpPr>
            <a:stCxn xmlns:a="http://schemas.openxmlformats.org/drawingml/2006/main" id="114" idx="2"/>
            <a:endCxn xmlns:a="http://schemas.openxmlformats.org/drawingml/2006/main" id="121" idx="0"/>
          </p:cNvCxnSpPr>
          <p:nvPr/>
        </p:nvCxnSpPr>
        <p:spPr>
          <a:xfrm xmlns:a="http://schemas.openxmlformats.org/drawingml/2006/main">
            <a:off x="5791200" y="2343150"/>
            <a:ext cx="1966913" cy="8667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5240">
            <a:solidFill>
              <a:srgbClr val="6844BB"/>
            </a:solidFill>
            <a:tailEnd type="arrow" w="med" len="med"/>
          </a:ln>
        </p:spPr>
      </p:cxnSp>
      <p:cxnSp>
        <p:nvCxn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EFACA40-1FF5-4803-A1F3-54D3F29BAD4B}"/>
              </a:ext>
            </a:extLst>
          </p:cNvPr>
          <p:cNvCxnSpPr>
            <a:stCxn xmlns:a="http://schemas.openxmlformats.org/drawingml/2006/main" id="121" idx="1"/>
            <a:endCxn xmlns:a="http://schemas.openxmlformats.org/drawingml/2006/main" id="120" idx="3"/>
          </p:cNvCxnSpPr>
          <p:nvPr/>
        </p:nvCxnSpPr>
        <p:spPr>
          <a:xfrm xmlns:a="http://schemas.openxmlformats.org/drawingml/2006/main" flipH="1">
            <a:off x="6096000" y="3633788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844BB"/>
            </a:solidFill>
            <a:tailEnd type="arrow" w="med" len="med"/>
          </a:ln>
        </p:spPr>
      </p:cxnSp>
      <p:cxnSp>
        <p:nvCxn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CA236E1C-5035-45DC-B6D2-90A46A1A9B99}"/>
              </a:ext>
            </a:extLst>
          </p:cNvPr>
          <p:cNvCxnSpPr>
            <a:stCxn xmlns:a="http://schemas.openxmlformats.org/drawingml/2006/main" id="119" idx="3"/>
            <a:endCxn xmlns:a="http://schemas.openxmlformats.org/drawingml/2006/main" id="120" idx="1"/>
          </p:cNvCxnSpPr>
          <p:nvPr/>
        </p:nvCxnSpPr>
        <p:spPr>
          <a:xfrm xmlns:a="http://schemas.openxmlformats.org/drawingml/2006/main">
            <a:off x="2743200" y="3633788"/>
            <a:ext cx="59055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844BB"/>
            </a:solidFill>
            <a:tailEnd type="arrow" w="med" len="med"/>
          </a:ln>
        </p:spPr>
      </p:cxnSp>
      <p:cxnSp>
        <p:nvCxn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940DC67A-9518-45F2-A1BE-F57E0FAA864A}"/>
              </a:ext>
            </a:extLst>
          </p:cNvPr>
          <p:cNvCxnSpPr>
            <a:stCxn xmlns:a="http://schemas.openxmlformats.org/drawingml/2006/main" id="114" idx="2"/>
            <a:endCxn xmlns:a="http://schemas.openxmlformats.org/drawingml/2006/main" id="119" idx="0"/>
          </p:cNvCxnSpPr>
          <p:nvPr/>
        </p:nvCxnSpPr>
        <p:spPr>
          <a:xfrm xmlns:a="http://schemas.openxmlformats.org/drawingml/2006/main" flipH="1">
            <a:off x="1552575" y="2343150"/>
            <a:ext cx="4238625" cy="8667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5240">
            <a:solidFill>
              <a:srgbClr val="6844BB"/>
            </a:solidFill>
            <a:tailEnd type="arrow" w="med" len="med"/>
          </a:ln>
        </p:spPr>
      </p:cxnSp>
      <p:cxnSp>
        <p:nvCxn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9D7553B8-2397-4F7F-9A6C-E563F3A86CDC}"/>
              </a:ext>
            </a:extLst>
          </p:cNvPr>
          <p:cNvCxnSpPr>
            <a:stCxn xmlns:a="http://schemas.openxmlformats.org/drawingml/2006/main" id="114" idx="3"/>
            <a:endCxn xmlns:a="http://schemas.openxmlformats.org/drawingml/2006/main" id="115" idx="1"/>
          </p:cNvCxnSpPr>
          <p:nvPr/>
        </p:nvCxnSpPr>
        <p:spPr>
          <a:xfrm xmlns:a="http://schemas.openxmlformats.org/drawingml/2006/main">
            <a:off x="6753225" y="1976438"/>
            <a:ext cx="46672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844BB"/>
            </a:solidFill>
            <a:tailEnd type="arrow" w="med" len="med"/>
          </a:ln>
        </p:spPr>
      </p:cxnSp>
      <p:cxnSp>
        <p:nvCxn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D3F1D16E-F984-440F-BE7C-8EC236B3688C}"/>
              </a:ext>
            </a:extLst>
          </p:cNvPr>
          <p:cNvCxnSpPr>
            <a:stCxn xmlns:a="http://schemas.openxmlformats.org/drawingml/2006/main" id="113" idx="3"/>
            <a:endCxn xmlns:a="http://schemas.openxmlformats.org/drawingml/2006/main" id="114" idx="1"/>
          </p:cNvCxnSpPr>
          <p:nvPr/>
        </p:nvCxnSpPr>
        <p:spPr>
          <a:xfrm xmlns:a="http://schemas.openxmlformats.org/drawingml/2006/main">
            <a:off x="4314825" y="1976438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844BB"/>
            </a:solidFill>
            <a:tailEnd type="arrow" w="med" len="med"/>
          </a:ln>
        </p:spPr>
      </p:cxnSp>
      <p:cxnSp>
        <p:nvCxn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AF480456-56AC-4B46-8621-9FBEB20B6F1B}"/>
              </a:ext>
            </a:extLst>
          </p:cNvPr>
          <p:cNvCxnSpPr>
            <a:stCxn xmlns:a="http://schemas.openxmlformats.org/drawingml/2006/main" id="112" idx="3"/>
            <a:endCxn xmlns:a="http://schemas.openxmlformats.org/drawingml/2006/main" id="113" idx="1"/>
          </p:cNvCxnSpPr>
          <p:nvPr/>
        </p:nvCxnSpPr>
        <p:spPr>
          <a:xfrm xmlns:a="http://schemas.openxmlformats.org/drawingml/2006/main">
            <a:off x="1990725" y="1976438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844BB"/>
            </a:solidFill>
            <a:tailEnd type="arrow" w="med" len="med"/>
          </a:ln>
        </p:spPr>
      </p:cxnSp>
      <p:pic>
        <p:nvPicPr>
          <p:cNvPr id="108" name="Google Shape;108;p20">
            <a:extLst xmlns:a="http://schemas.openxmlformats.org/drawingml/2006/main">
              <a:ext uri="{FF2B5EF4-FFF2-40B4-BE49-F238E27FC236}">
                <a16:creationId xmlns:a16="http://schemas.microsoft.com/office/drawing/2014/main" id="{CBADD947-5C40-4B35-9EBD-6AAF451486D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da3a388c4114e91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9" name="Google Shape;109;p20">
            <a:extLst xmlns:a="http://schemas.openxmlformats.org/drawingml/2006/main">
              <a:ext uri="{FF2B5EF4-FFF2-40B4-BE49-F238E27FC236}">
                <a16:creationId xmlns:a16="http://schemas.microsoft.com/office/drawing/2014/main" id="{5AB2E04C-F0A6-4170-B11F-21A7E36EABA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2df47393ff4f76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0" name="Google Shape;110;p20">
            <a:extLst xmlns:a="http://schemas.openxmlformats.org/drawingml/2006/main">
              <a:ext uri="{FF2B5EF4-FFF2-40B4-BE49-F238E27FC236}">
                <a16:creationId xmlns:a16="http://schemas.microsoft.com/office/drawing/2014/main" id="{03AEA563-2284-46CA-971E-E41FAD7E2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2"/>
            <a:ext cx="9144000" cy="716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>
            <a:extLst xmlns:a="http://schemas.openxmlformats.org/drawingml/2006/main">
              <a:ext uri="{FF2B5EF4-FFF2-40B4-BE49-F238E27FC236}">
                <a16:creationId xmlns:a16="http://schemas.microsoft.com/office/drawing/2014/main" id="{B1261BD0-A73B-4733-AD7F-E7BA325D4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0600" cy="5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5166D599-12D6-435C-8FD2-76149AA82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609725"/>
            <a:ext cx="1628775" cy="733425"/>
          </a:xfrm>
          <a:prstGeom xmlns:a="http://schemas.openxmlformats.org/drawingml/2006/main" prst="roundRect">
            <a:avLst>
              <a:gd name="adj" fmla="val 12987"/>
            </a:avLst>
          </a:prstGeom>
          <a:solidFill xmlns:a="http://schemas.openxmlformats.org/drawingml/2006/main">
            <a:srgbClr val="F1ECFC"/>
          </a:solidFill>
          <a:ln xmlns:a="http://schemas.openxmlformats.org/drawingml/2006/main" w="9525">
            <a:solidFill>
              <a:srgbClr val="D8D9E1"/>
            </a:solidFill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Browser</a:t>
            </a:r>
          </a:p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Charts, chat and voice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F4DA7F3A-B5D0-45C9-A4D6-3E927381A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1609725"/>
            <a:ext cx="1866900" cy="733425"/>
          </a:xfrm>
          <a:prstGeom xmlns:a="http://schemas.openxmlformats.org/drawingml/2006/main" prst="roundRect">
            <a:avLst>
              <a:gd name="adj" fmla="val 12987"/>
            </a:avLst>
          </a:prstGeom>
          <a:solidFill xmlns:a="http://schemas.openxmlformats.org/drawingml/2006/main">
            <a:srgbClr val="F1ECFC"/>
          </a:solidFill>
          <a:ln xmlns:a="http://schemas.openxmlformats.org/drawingml/2006/main" w="9525">
            <a:solidFill>
              <a:srgbClr val="D8D9E1"/>
            </a:solidFill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Google IAP sign-in</a:t>
            </a:r>
          </a:p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Cloud Run web gateway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3EAD5307-9B06-4F35-A96C-BA2FC790B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1609725"/>
            <a:ext cx="1924050" cy="733425"/>
          </a:xfrm>
          <a:prstGeom xmlns:a="http://schemas.openxmlformats.org/drawingml/2006/main" prst="roundRect">
            <a:avLst>
              <a:gd name="adj" fmla="val 12987"/>
            </a:avLst>
          </a:prstGeom>
          <a:solidFill xmlns:a="http://schemas.openxmlformats.org/drawingml/2006/main">
            <a:srgbClr val="F1ECFC"/>
          </a:solidFill>
          <a:ln xmlns:a="http://schemas.openxmlformats.org/drawingml/2006/main" w="9525">
            <a:solidFill>
              <a:srgbClr val="D8D9E1"/>
            </a:solidFill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Private Cloud Run API</a:t>
            </a:r>
          </a:p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FastAPI / Pydantic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4098D117-98FB-4386-A6B0-5027D2AB3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609725"/>
            <a:ext cx="1571625" cy="733425"/>
          </a:xfrm>
          <a:prstGeom xmlns:a="http://schemas.openxmlformats.org/drawingml/2006/main" prst="roundRect">
            <a:avLst>
              <a:gd name="adj" fmla="val 12987"/>
            </a:avLst>
          </a:prstGeom>
          <a:solidFill xmlns:a="http://schemas.openxmlformats.org/drawingml/2006/main">
            <a:srgbClr val="E7F6EE"/>
          </a:solidFill>
          <a:ln xmlns:a="http://schemas.openxmlformats.org/drawingml/2006/main" w="9525">
            <a:solidFill>
              <a:srgbClr val="D8D9E1"/>
            </a:solidFill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Firestore</a:t>
            </a:r>
          </a:p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Private workspace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2269AE51-DF78-431D-A900-A98A3503A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209925"/>
            <a:ext cx="2381250" cy="847725"/>
          </a:xfrm>
          <a:prstGeom xmlns:a="http://schemas.openxmlformats.org/drawingml/2006/main" prst="roundRect">
            <a:avLst>
              <a:gd name="adj" fmla="val 11236"/>
            </a:avLst>
          </a:prstGeom>
          <a:solidFill xmlns:a="http://schemas.openxmlformats.org/drawingml/2006/main">
            <a:srgbClr val="F1ECFC"/>
          </a:solidFill>
          <a:ln xmlns:a="http://schemas.openxmlformats.org/drawingml/2006/main" w="9525">
            <a:solidFill>
              <a:srgbClr val="D8D9E1"/>
            </a:solidFill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Gemini on Vertex AI</a:t>
            </a:r>
          </a:p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Interpretation, chat, voice</a:t>
            </a:r>
          </a:p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Google Search grounding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0C9B22E9-6D83-472F-88CF-C7256E81B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209925"/>
            <a:ext cx="2762250" cy="847725"/>
          </a:xfrm>
          <a:prstGeom xmlns:a="http://schemas.openxmlformats.org/drawingml/2006/main" prst="roundRect">
            <a:avLst>
              <a:gd name="adj" fmla="val 11236"/>
            </a:avLst>
          </a:prstGeom>
          <a:solidFill xmlns:a="http://schemas.openxmlformats.org/drawingml/2006/main">
            <a:srgbClr val="E7F6EE"/>
          </a:solidFill>
          <a:ln xmlns:a="http://schemas.openxmlformats.org/drawingml/2006/main" w="9525">
            <a:solidFill>
              <a:srgbClr val="D8D9E1"/>
            </a:solidFill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Checks within the private API</a:t>
            </a:r>
          </a:p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Evidence, INR, consent, revisions</a:t>
            </a:r>
          </a:p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Visual preview before save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DC2B915E-25AB-40E5-8003-CC1D71143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209925"/>
            <a:ext cx="2066925" cy="847725"/>
          </a:xfrm>
          <a:prstGeom xmlns:a="http://schemas.openxmlformats.org/drawingml/2006/main" prst="roundRect">
            <a:avLst>
              <a:gd name="adj" fmla="val 11236"/>
            </a:avLst>
          </a:prstGeom>
          <a:solidFill xmlns:a="http://schemas.openxmlformats.org/drawingml/2006/main">
            <a:srgbClr val="F1ECFC"/>
          </a:solidFill>
          <a:ln xmlns:a="http://schemas.openxmlformats.org/drawingml/2006/main" w="9525">
            <a:solidFill>
              <a:srgbClr val="D8D9E1"/>
            </a:solidFill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Document AI</a:t>
            </a:r>
          </a:p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Supported scanned PDFs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7174C830-B56B-44D1-A261-BA4CB5861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333875"/>
            <a:ext cx="8382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Reviewed history and goals persist per user. Private totals reach Gemini only when the user permits them.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259B5F02-A6BE-4639-9365-6DC8352F3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33925"/>
            <a:ext cx="795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Public research excludes private statement data. Raw uploads are not archived.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5B8460B3-0F57-4A67-8AF7-C140C7B4E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7434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06689466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6" name="Google Shape;116;p21">
            <a:extLst xmlns:a="http://schemas.openxmlformats.org/drawingml/2006/main">
              <a:ext uri="{FF2B5EF4-FFF2-40B4-BE49-F238E27FC236}">
                <a16:creationId xmlns:a16="http://schemas.microsoft.com/office/drawing/2014/main" id="{63F56AE0-387A-4D56-B194-EAB6A6F31C0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3d25324dfab40f7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17" name="Google Shape;117;p21">
            <a:extLst xmlns:a="http://schemas.openxmlformats.org/drawingml/2006/main">
              <a:ext uri="{FF2B5EF4-FFF2-40B4-BE49-F238E27FC236}">
                <a16:creationId xmlns:a16="http://schemas.microsoft.com/office/drawing/2014/main" id="{5506ECBD-2B4E-4C73-9CAE-4D769AD461A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db2de2e5394bd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8" name="Google Shape;118;p21">
            <a:extLst xmlns:a="http://schemas.openxmlformats.org/drawingml/2006/main">
              <a:ext uri="{FF2B5EF4-FFF2-40B4-BE49-F238E27FC236}">
                <a16:creationId xmlns:a16="http://schemas.microsoft.com/office/drawing/2014/main" id="{479BA9E1-E12B-4248-A325-0D65FC4E0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2"/>
            <a:ext cx="9144000" cy="716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>
            <a:extLst xmlns:a="http://schemas.openxmlformats.org/drawingml/2006/main">
              <a:ext uri="{FF2B5EF4-FFF2-40B4-BE49-F238E27FC236}">
                <a16:creationId xmlns:a16="http://schemas.microsoft.com/office/drawing/2014/main" id="{45648D11-4BE4-4ACC-BC54-A961A11F6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0600" cy="5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graphicFrame>
        <p:nvGraphicFrame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4A67E75-5CB1-48F8-ACAC-132C1B759479}"/>
              </a:ext>
            </a:extLst>
          </p:cNvPr>
          <p:cNvGraphicFramePr/>
          <p:nvPr/>
        </p:nvGraphicFramePr>
        <p:xfrm>
          <a:off xmlns:a="http://schemas.openxmlformats.org/drawingml/2006/main" x="361950" y="1333500"/>
          <a:ext xmlns:a="http://schemas.openxmlformats.org/drawingml/2006/main" cx="8420100" cy="3105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6134100"/>
              </a:tblGrid>
              <a:tr h="388144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</a:rPr>
                        <a:t>Technology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T w="6668">
                      <a:solidFill>
                        <a:srgbClr val="D8D9E1"/>
                      </a:solidFill>
                      <a:prstDash val="solid"/>
                    </a:lnT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1ECFC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</a:rPr>
                        <a:t>Implemented purpose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T w="6668">
                      <a:solidFill>
                        <a:srgbClr val="D8D9E1"/>
                      </a:solidFill>
                      <a:prstDash val="solid"/>
                    </a:lnT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1ECFC"/>
                    </a:solidFill>
                  </a:tcPr>
                </a:tc>
              </a:tr>
              <a:tr h="388144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Cloud Run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Web gateway and private Python API, deployed in asia-south1.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8144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Gemini on Vertex AI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PDF interpretation, structured goal intake, grounded chat and voice.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AFAFC"/>
                    </a:solidFill>
                  </a:tcPr>
                </a:tc>
              </a:tr>
              <a:tr h="388144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Firestore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Tenant-scoped reviewed rows, preferences, roadmap state and revisions.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8144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Document AI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OCR path for supported scanned statement PDFs.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AFAFC"/>
                    </a:solidFill>
                  </a:tcPr>
                </a:tc>
              </a:tr>
              <a:tr h="388144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IAM / IAP / Secret Manager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Google identity, service boundaries and server-side configuration.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8144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Cloud Build / Artifact Registry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Container builds and immutable deployment images.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AFAFC"/>
                    </a:solidFill>
                  </a:tcPr>
                </a:tc>
              </a:tr>
              <a:tr h="388144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HTML / CSS / JS / Python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Responsive UI, FastAPI, Pydantic, local Docker and SQLite.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8FD3788D-96B5-48DA-8928-4434AC7D6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33925"/>
            <a:ext cx="795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Gemini models power the AI. Firebase Hosting/Auth, BigQuery and model fine-tuning are not used.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7E77ECA1-1935-4F46-A346-42045699E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7434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7773432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4" name="Google Shape;124;p22">
            <a:extLst xmlns:a="http://schemas.openxmlformats.org/drawingml/2006/main">
              <a:ext uri="{FF2B5EF4-FFF2-40B4-BE49-F238E27FC236}">
                <a16:creationId xmlns:a16="http://schemas.microsoft.com/office/drawing/2014/main" id="{D6FD5009-6F0C-43CB-AAE8-FB54374E4A9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0fcc29461504962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25" name="Google Shape;125;p22">
            <a:extLst xmlns:a="http://schemas.openxmlformats.org/drawingml/2006/main">
              <a:ext uri="{FF2B5EF4-FFF2-40B4-BE49-F238E27FC236}">
                <a16:creationId xmlns:a16="http://schemas.microsoft.com/office/drawing/2014/main" id="{AB9807BB-E0A3-49F9-83CF-D8BA4F81A8A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bc8e77a8534c1d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26" name="Google Shape;126;p22">
            <a:extLst xmlns:a="http://schemas.openxmlformats.org/drawingml/2006/main">
              <a:ext uri="{FF2B5EF4-FFF2-40B4-BE49-F238E27FC236}">
                <a16:creationId xmlns:a16="http://schemas.microsoft.com/office/drawing/2014/main" id="{6B1191D0-35C5-48D6-879A-9126905A1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2"/>
            <a:ext cx="9144000" cy="716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>
            <a:extLst xmlns:a="http://schemas.openxmlformats.org/drawingml/2006/main">
              <a:ext uri="{FF2B5EF4-FFF2-40B4-BE49-F238E27FC236}">
                <a16:creationId xmlns:a16="http://schemas.microsoft.com/office/drawing/2014/main" id="{163CC10D-D01E-4B53-A646-0F2E54F2E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0600" cy="5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A9689603-EBB2-433C-B9D7-3700BEF7F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62075"/>
            <a:ext cx="842962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defRPr>
            </a:pPr>
            <a:r>
              <a:rPr sz="2100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rPr>
              <a:t>Usage-based prototype on a Google Cloud trial</a:t>
            </a:r>
          </a:p>
        </p:txBody>
      </p:sp>
      <p:graphicFrame>
        <p:nvGraphicFrame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4E0ED5FB-C4EC-49F4-98F9-D06EC1957799}"/>
              </a:ext>
            </a:extLst>
          </p:cNvPr>
          <p:cNvGraphicFramePr/>
          <p:nvPr/>
        </p:nvGraphicFramePr>
        <p:xfrm>
          <a:off xmlns:a="http://schemas.openxmlformats.org/drawingml/2006/main" x="361950" y="1952625"/>
          <a:ext xmlns:a="http://schemas.openxmlformats.org/drawingml/2006/main" cx="8420100" cy="20288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43275"/>
                <a:gridCol w="5076825"/>
              </a:tblGrid>
              <a:tr h="405765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</a:rPr>
                        <a:t>Cost driver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T w="6668">
                      <a:solidFill>
                        <a:srgbClr val="D8D9E1"/>
                      </a:solidFill>
                      <a:prstDash val="solid"/>
                    </a:lnT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1ECFC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</a:rPr>
                        <a:t>Current control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T w="6668">
                      <a:solidFill>
                        <a:srgbClr val="D8D9E1"/>
                      </a:solidFill>
                      <a:prstDash val="solid"/>
                    </a:lnT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1ECFC"/>
                    </a:solidFill>
                  </a:tcPr>
                </a:tc>
              </a:tr>
              <a:tr h="405765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PDF, chat, research and voice calls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Explicit opt-in, request limits and bounded context.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5765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Known-format CSV analysis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Deterministic parsing and calculations need zero model calls.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AFAFC"/>
                    </a:solidFill>
                  </a:tcPr>
                </a:tc>
              </a:tr>
              <a:tr h="405765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Cloud Run and Firestore operations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Serverless services and bounded workspace sizes.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5765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Repeated speech playback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Page-memory replay avoids another model call when cached.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AFAFC"/>
                    </a:solidFill>
                  </a:tcPr>
                </a:tc>
              </a:tr>
            </a:tbl>
          </a:graphicData>
        </a:graphic>
      </p:graphicFrame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18C6C3CB-6BDC-45DC-BF65-EFBF34A5D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229100"/>
            <a:ext cx="8401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A production per-user estimate still needs measured traffic, tokens, document pages and retention. Trial credits do not make the service permanently free.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E1411EA3-0901-41B8-A772-F5F08E3E6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33925"/>
            <a:ext cx="795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Production pricing depends on measured usage and the selected provider services.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FA10EBB5-C8BF-4ED2-A22B-3EB78DEAF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7434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4138574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2" name="Google Shape;132;p23">
            <a:extLst xmlns:a="http://schemas.openxmlformats.org/drawingml/2006/main">
              <a:ext uri="{FF2B5EF4-FFF2-40B4-BE49-F238E27FC236}">
                <a16:creationId xmlns:a16="http://schemas.microsoft.com/office/drawing/2014/main" id="{45F0E9E2-0DF2-4FCD-A1BC-6687CA89464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cac053ac4d54e1d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33" name="Google Shape;133;p23">
            <a:extLst xmlns:a="http://schemas.openxmlformats.org/drawingml/2006/main">
              <a:ext uri="{FF2B5EF4-FFF2-40B4-BE49-F238E27FC236}">
                <a16:creationId xmlns:a16="http://schemas.microsoft.com/office/drawing/2014/main" id="{C19458C5-175B-403F-8714-826AE4022C8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47b685717243b0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34" name="Google Shape;134;p23">
            <a:extLst xmlns:a="http://schemas.openxmlformats.org/drawingml/2006/main">
              <a:ext uri="{FF2B5EF4-FFF2-40B4-BE49-F238E27FC236}">
                <a16:creationId xmlns:a16="http://schemas.microsoft.com/office/drawing/2014/main" id="{E1D82BBD-D9B8-4EFA-8A4B-43677D2A0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2"/>
            <a:ext cx="9144000" cy="716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>
            <a:extLst xmlns:a="http://schemas.openxmlformats.org/drawingml/2006/main">
              <a:ext uri="{FF2B5EF4-FFF2-40B4-BE49-F238E27FC236}">
                <a16:creationId xmlns:a16="http://schemas.microsoft.com/office/drawing/2014/main" id="{01FD61CD-314A-41C9-9572-1BC6AD2E7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0600" cy="5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pic>
        <p:nvPic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D26072D0-18E2-443A-98CD-4EBD11DE885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376ef04e3b4015"/>
          <a:srcRect xmlns:a="http://schemas.openxmlformats.org/drawingml/2006/main" l="0" t="24800" r="0" b="43000"/>
          <a:stretch xmlns:a="http://schemas.openxmlformats.org/drawingml/2006/main"/>
        </p:blipFill>
        <p:spPr>
          <a:xfrm xmlns:a="http://schemas.openxmlformats.org/drawingml/2006/main">
            <a:off x="361950" y="1381125"/>
            <a:ext cx="4191000" cy="3219450"/>
          </a:xfrm>
          <a:prstGeom xmlns:a="http://schemas.openxmlformats.org/drawingml/2006/main" prst="rect">
            <a:avLst/>
          </a:prstGeom>
        </p:spPr>
      </p:pic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1CA5F642-1022-4A0D-8603-E5B7001D0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381125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defRPr>
            </a:pPr>
            <a:r>
              <a: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rPr>
              <a:t>A plan the user can inspect</a:t>
            </a:r>
          </a:p>
        </p:txBody>
      </p:sp>
      <p:graphicFrame>
        <p:nvGraphicFrame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3B73CE53-804C-4646-89E9-4E54E5FA4F67}"/>
              </a:ext>
            </a:extLst>
          </p:cNvPr>
          <p:cNvGraphicFramePr/>
          <p:nvPr/>
        </p:nvGraphicFramePr>
        <p:xfrm>
          <a:off xmlns:a="http://schemas.openxmlformats.org/drawingml/2006/main" x="4857750" y="1819275"/>
          <a:ext xmlns:a="http://schemas.openxmlformats.org/drawingml/2006/main" cx="3886200" cy="20764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00325"/>
                <a:gridCol w="1285875"/>
              </a:tblGrid>
              <a:tr h="415290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</a:rPr>
                        <a:t>Artificial travel goal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T w="6668">
                      <a:solidFill>
                        <a:srgbClr val="D8D9E1"/>
                      </a:solidFill>
                      <a:prstDash val="solid"/>
                    </a:lnT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1ECFC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</a:rPr>
                        <a:t>INR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T w="6668">
                      <a:solidFill>
                        <a:srgbClr val="D8D9E1"/>
                      </a:solidFill>
                      <a:prstDash val="solid"/>
                    </a:lnT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1ECFC"/>
                    </a:solidFill>
                  </a:tcPr>
                </a:tc>
              </a:tr>
              <a:tr h="415290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Target in 12 months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1,20,000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5290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Starting pot after reserve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20,000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AFAFC"/>
                    </a:solidFill>
                  </a:tcPr>
                </a:tc>
              </a:tr>
              <a:tr h="415290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Monthly saving step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8,333.34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5290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Protected cash reserve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50,000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AFAFC"/>
                    </a:solidFill>
                  </a:tcPr>
                </a:tc>
              </a:tr>
            </a:tbl>
          </a:graphicData>
        </a:graphic>
      </p:graphicFrame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880B0699-50BA-418D-A6E5-2FD788732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095750"/>
            <a:ext cx="38862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Friday also shows pressure cases and budget alternatives. Progress changes only when the user reports additional savings.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D0A512BD-6580-4157-AC22-B270E96BC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33925"/>
            <a:ext cx="795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Actual product output. Scenario values are not forecasts or verified bank balances.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40FB6546-7581-4FBF-828A-D77002D63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7434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409184978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0" name="Google Shape;140;p24">
            <a:extLst xmlns:a="http://schemas.openxmlformats.org/drawingml/2006/main">
              <a:ext uri="{FF2B5EF4-FFF2-40B4-BE49-F238E27FC236}">
                <a16:creationId xmlns:a16="http://schemas.microsoft.com/office/drawing/2014/main" id="{57D048EA-E34F-4809-825A-1200F384817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d74679e305c40c8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1" name="Google Shape;141;p24">
            <a:extLst xmlns:a="http://schemas.openxmlformats.org/drawingml/2006/main">
              <a:ext uri="{FF2B5EF4-FFF2-40B4-BE49-F238E27FC236}">
                <a16:creationId xmlns:a16="http://schemas.microsoft.com/office/drawing/2014/main" id="{E7E57574-1C6A-4978-A13F-E4B06818EA9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ff32627c6f4dee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2" name="Google Shape;142;p24">
            <a:extLst xmlns:a="http://schemas.openxmlformats.org/drawingml/2006/main">
              <a:ext uri="{FF2B5EF4-FFF2-40B4-BE49-F238E27FC236}">
                <a16:creationId xmlns:a16="http://schemas.microsoft.com/office/drawing/2014/main" id="{064C8B81-7822-4752-BA1E-3805C5F67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2"/>
            <a:ext cx="9144000" cy="716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>
            <a:extLst xmlns:a="http://schemas.openxmlformats.org/drawingml/2006/main">
              <a:ext uri="{FF2B5EF4-FFF2-40B4-BE49-F238E27FC236}">
                <a16:creationId xmlns:a16="http://schemas.microsoft.com/office/drawing/2014/main" id="{76CF7DA1-C3CF-4B32-9E2A-802BE091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0600" cy="5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graphicFrame>
        <p:nvGraphicFrame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AAF791FA-CB47-4713-9E2A-04A7B604CD18}"/>
              </a:ext>
            </a:extLst>
          </p:cNvPr>
          <p:cNvGraphicFramePr/>
          <p:nvPr/>
        </p:nvGraphicFramePr>
        <p:xfrm>
          <a:off xmlns:a="http://schemas.openxmlformats.org/drawingml/2006/main" x="361950" y="1333500"/>
          <a:ext xmlns:a="http://schemas.openxmlformats.org/drawingml/2006/main" cx="8420100" cy="26384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14650"/>
                <a:gridCol w="5505450"/>
              </a:tblGrid>
              <a:tr h="439738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</a:rPr>
                        <a:t>Evaluation scope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T w="6668">
                      <a:solidFill>
                        <a:srgbClr val="D8D9E1"/>
                      </a:solidFill>
                      <a:prstDash val="solid"/>
                    </a:lnT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1ECFC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</a:rPr>
                        <a:t>Recorded result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T w="6668">
                      <a:solidFill>
                        <a:srgbClr val="D8D9E1"/>
                      </a:solidFill>
                      <a:prstDash val="solid"/>
                    </a:lnT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1ECFC"/>
                    </a:solidFill>
                  </a:tcPr>
                </a:tc>
              </a:tr>
              <a:tr h="439738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Native regression suite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868 run: 867 passed, 1 optional integration skipped.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9738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Container regression suite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868 run: 818 passed, 50 environment-dependent skips.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AFAFC"/>
                    </a:solidFill>
                  </a:tcPr>
                </a:tc>
              </a:tr>
              <a:tr h="439738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Offline cloud tooling checks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68 passed.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9738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Isolated real-Google acceptance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8 calls across voice, Search and goal persistence flows.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AFAFC"/>
                    </a:solidFill>
                  </a:tcPr>
                </a:tc>
              </a:tr>
              <a:tr h="439738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Authored 39-case review benchmark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66.67% precision, 73.68% recall, 38.89% case-level FPR.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F0E9AAC6-62EA-4F31-9B73-B2CB659DD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181475"/>
            <a:ext cx="840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17182A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18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17182A"/>
                </a:solidFill>
                <a:latin typeface="Google Sans Flex"/>
                <a:ea typeface="Google Sans Flex"/>
                <a:cs typeface="Google Sans Flex"/>
              </a:rPr>
              <a:t>Software tests establish tested behaviour, not financial efficacy. The synthetic review benchmark still has misses and false warnings. Independent real-bank validation remains open.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624178D1-6283-4CC7-8310-1F1CEE3DF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33925"/>
            <a:ext cx="795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Sources: CURRENT_RELEASE.json, FINAL_POLISH_0390.md and VALIDATION_HANDOFF.md in the public repository.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465B0975-BF16-4095-AC96-3DCA683FD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7434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38151586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8" name="Google Shape;148;p25">
            <a:extLst xmlns:a="http://schemas.openxmlformats.org/drawingml/2006/main">
              <a:ext uri="{FF2B5EF4-FFF2-40B4-BE49-F238E27FC236}">
                <a16:creationId xmlns:a16="http://schemas.microsoft.com/office/drawing/2014/main" id="{DF31ABDE-0F04-4DD1-AF96-96F265CB31F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2d6c5c060bd40f4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9" name="Google Shape;149;p25">
            <a:extLst xmlns:a="http://schemas.openxmlformats.org/drawingml/2006/main">
              <a:ext uri="{FF2B5EF4-FFF2-40B4-BE49-F238E27FC236}">
                <a16:creationId xmlns:a16="http://schemas.microsoft.com/office/drawing/2014/main" id="{0B3BC27F-D51B-4C7D-8E3A-280A08EC13F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2b63c49ec848b4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0" name="Google Shape;150;p25">
            <a:extLst xmlns:a="http://schemas.openxmlformats.org/drawingml/2006/main">
              <a:ext uri="{FF2B5EF4-FFF2-40B4-BE49-F238E27FC236}">
                <a16:creationId xmlns:a16="http://schemas.microsoft.com/office/drawing/2014/main" id="{21B2D497-FAF8-4F0B-B519-41F178DA3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2"/>
            <a:ext cx="9144000" cy="716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>
            <a:extLst xmlns:a="http://schemas.openxmlformats.org/drawingml/2006/main">
              <a:ext uri="{FF2B5EF4-FFF2-40B4-BE49-F238E27FC236}">
                <a16:creationId xmlns:a16="http://schemas.microsoft.com/office/drawing/2014/main" id="{F78E9426-F84B-4395-8501-6BE0BF61B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0600" cy="5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307183FB-5A8A-421C-BF55-F5883AB6A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6207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defRPr>
            </a:pPr>
            <a:r>
              <a: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rPr>
              <a:t>Next validation priorities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D755AA5F-412D-422F-B9C3-867DB4A5B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790700"/>
            <a:ext cx="3943350" cy="2600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 marL="203200" indent="-101600">
              <a:spcAft>
                <a:spcPts val="1200"/>
              </a:spcAft>
              <a:buChar char="•"/>
              <a:defRPr sz="1425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425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Independent, authorised bank-layout and explanation evaluation.</a:t>
            </a:r>
          </a:p>
          <a:p xmlns:a="http://schemas.openxmlformats.org/drawingml/2006/main">
            <a:pPr marL="203200" indent="-101600">
              <a:spcAft>
                <a:spcPts val="1200"/>
              </a:spcAft>
              <a:buChar char="•"/>
              <a:defRPr sz="1425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425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Measure task completion, incorrect guidance and warning fatigue.</a:t>
            </a:r>
          </a:p>
          <a:p xmlns:a="http://schemas.openxmlformats.org/drawingml/2006/main">
            <a:pPr marL="203200" indent="-101600">
              <a:spcAft>
                <a:spcPts val="1200"/>
              </a:spcAft>
              <a:buChar char="•"/>
              <a:defRPr sz="1425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425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Test multilingual use, accessibility and account-policy variations.</a:t>
            </a:r>
          </a:p>
          <a:p xmlns:a="http://schemas.openxmlformats.org/drawingml/2006/main">
            <a:pPr marL="203200" indent="-101600">
              <a:spcAft>
                <a:spcPts val="1200"/>
              </a:spcAft>
              <a:buChar char="•"/>
              <a:defRPr sz="1425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425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Assess consented bank integrations only through authorised partners.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EDFEF283-1DCB-41EB-A453-F0F6DB146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362075"/>
            <a:ext cx="3933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defRPr>
            </a:pPr>
            <a:r>
              <a: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rPr>
              <a:t>Current boundaries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2E030D5D-C619-41D2-A3DF-D7A49385E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1790700"/>
            <a:ext cx="3857625" cy="2600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 marL="203200" indent="-101600">
              <a:spcAft>
                <a:spcPts val="1200"/>
              </a:spcAft>
              <a:buChar char="•"/>
              <a:defRPr sz="1425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425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Supported INR PDF/CSV limits apply. Unknown evidence stays unknown.</a:t>
            </a:r>
          </a:p>
          <a:p xmlns:a="http://schemas.openxmlformats.org/drawingml/2006/main">
            <a:pPr marL="203200" indent="-101600">
              <a:spcAft>
                <a:spcPts val="1200"/>
              </a:spcAft>
              <a:buChar char="•"/>
              <a:defRPr sz="1425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425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No bank feeds, live balances, payment execution or automatic money recovery.</a:t>
            </a:r>
          </a:p>
          <a:p xmlns:a="http://schemas.openxmlformats.org/drawingml/2006/main">
            <a:pPr marL="203200" indent="-101600">
              <a:spcAft>
                <a:spcPts val="1200"/>
              </a:spcAft>
              <a:buChar char="•"/>
              <a:defRPr sz="1425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425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Education and cash planning exclude personalised securities trades.</a:t>
            </a:r>
          </a:p>
          <a:p xmlns:a="http://schemas.openxmlformats.org/drawingml/2006/main">
            <a:pPr marL="203200" indent="-101600">
              <a:spcAft>
                <a:spcPts val="1200"/>
              </a:spcAft>
              <a:buChar char="•"/>
              <a:defRPr sz="1425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425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Savings progress is self-reported. No guaranteed returns or outcomes.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FE935E09-ED56-4C85-88B4-48BDEB42A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33925"/>
            <a:ext cx="795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Goal: a measured consumer pilot before claims of broad banking readiness.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47E2FF54-6CF1-4A55-BEF3-263AA5986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7434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977107326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6" name="Google Shape;156;p26">
            <a:extLst xmlns:a="http://schemas.openxmlformats.org/drawingml/2006/main">
              <a:ext uri="{FF2B5EF4-FFF2-40B4-BE49-F238E27FC236}">
                <a16:creationId xmlns:a16="http://schemas.microsoft.com/office/drawing/2014/main" id="{3BF0D86F-2429-4875-829E-AD1850691B5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ae899fe85634200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57" name="Google Shape;157;p26">
            <a:extLst xmlns:a="http://schemas.openxmlformats.org/drawingml/2006/main">
              <a:ext uri="{FF2B5EF4-FFF2-40B4-BE49-F238E27FC236}">
                <a16:creationId xmlns:a16="http://schemas.microsoft.com/office/drawing/2014/main" id="{B1064089-37CE-44FE-B06A-0C01DC1DFFF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a16cfdd70c4506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8" name="Google Shape;158;p26">
            <a:extLst xmlns:a="http://schemas.openxmlformats.org/drawingml/2006/main">
              <a:ext uri="{FF2B5EF4-FFF2-40B4-BE49-F238E27FC236}">
                <a16:creationId xmlns:a16="http://schemas.microsoft.com/office/drawing/2014/main" id="{550FFD8E-4DA0-490D-A65C-DB6E861E5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2"/>
            <a:ext cx="9144000" cy="716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>
            <a:extLst xmlns:a="http://schemas.openxmlformats.org/drawingml/2006/main">
              <a:ext uri="{FF2B5EF4-FFF2-40B4-BE49-F238E27FC236}">
                <a16:creationId xmlns:a16="http://schemas.microsoft.com/office/drawing/2014/main" id="{2F1070D6-F34B-4547-B63D-B583EB65A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0600" cy="5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B2702061-D8C7-4637-9691-D903404E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23975"/>
            <a:ext cx="838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defRPr>
            </a:pPr>
            <a:r>
              <a:rPr sz="1350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rPr>
              <a:t>GitHub Public Repository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62146A69-D61C-4968-BEA0-1F8380B04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609725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44BB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44BB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00" b="0">
                <a:solidFill>
                  <a:srgbClr val="6844BB"/>
                </a:solidFill>
                <a:latin typeface="Google Sans Flex"/>
                <a:ea typeface="Google Sans Flex"/>
                <a:cs typeface="Google Sans Flex"/>
                <a:hlinkClick xmlns:r="http://schemas.openxmlformats.org/officeDocument/2006/relationships" r:id="R48f3017f3fe64a02"/>
              </a:rPr>
              <a:t>https://github.com/Santxsh27/financial-friday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A0E7DF03-1EA8-47C4-ACF8-81F76F49A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105025"/>
            <a:ext cx="838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defRPr>
            </a:pPr>
            <a:r>
              <a:rPr sz="1350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rPr>
              <a:t>Final Product Link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423FB522-9398-4E4D-9964-B0C011FF7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390775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44BB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44BB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00" b="0">
                <a:solidFill>
                  <a:srgbClr val="6844BB"/>
                </a:solidFill>
                <a:latin typeface="Google Sans Flex"/>
                <a:ea typeface="Google Sans Flex"/>
                <a:cs typeface="Google Sans Flex"/>
                <a:hlinkClick xmlns:r="http://schemas.openxmlformats.org/officeDocument/2006/relationships" r:id="R9ca480c311aa46bd"/>
              </a:rPr>
              <a:t>https://financial-friday-web-171681243260.asia-south1.run.app/#home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890B5A18-6460-4E5E-B9B2-C1C9B3AD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905125"/>
            <a:ext cx="8420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defRPr>
            </a:pPr>
            <a:r>
              <a:rPr sz="1350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rPr>
              <a:t>Demo Video Link (3–4 minutes)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11039F06-D29C-4825-B5A1-93637BE15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209925"/>
            <a:ext cx="8420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Video link will be supplied separately in the submission form after recording.</a:t>
            </a:r>
          </a:p>
        </p:txBody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FF47A1FC-C78E-47FC-8596-AB838B16C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819525"/>
            <a:ext cx="838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defRPr>
            </a:pPr>
            <a:r>
              <a:rPr sz="1350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rPr>
              <a:t>Walkthrough and artificial statement downloads</a:t>
            </a: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BC39B49E-7319-4537-802A-BEE5B0FB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105275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44BB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44BB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00" b="0">
                <a:solidFill>
                  <a:srgbClr val="6844BB"/>
                </a:solidFill>
                <a:latin typeface="Google Sans Flex"/>
                <a:ea typeface="Google Sans Flex"/>
                <a:cs typeface="Google Sans Flex"/>
                <a:hlinkClick xmlns:r="http://schemas.openxmlformats.org/officeDocument/2006/relationships" r:id="R3afacadde2d74474"/>
              </a:rPr>
              <a:t>https://financial-friday-web-171681243260.asia-south1.run.app/assets/friday-judge-guide.html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25E09A97-75ED-461B-9D87-2EEA82B6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33925"/>
            <a:ext cx="795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Product requires Google sign-in. Source and judge samples are public.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0E330252-F1D7-402D-804E-7215A9824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7434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35024508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4" name="Google Shape;164;p27">
            <a:extLst xmlns:a="http://schemas.openxmlformats.org/drawingml/2006/main">
              <a:ext uri="{FF2B5EF4-FFF2-40B4-BE49-F238E27FC236}">
                <a16:creationId xmlns:a16="http://schemas.microsoft.com/office/drawing/2014/main" id="{3DD7B040-1741-4D44-838C-CD4E6CF2038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93d631400854009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65" name="Google Shape;165;p27">
            <a:extLst xmlns:a="http://schemas.openxmlformats.org/drawingml/2006/main">
              <a:ext uri="{FF2B5EF4-FFF2-40B4-BE49-F238E27FC236}">
                <a16:creationId xmlns:a16="http://schemas.microsoft.com/office/drawing/2014/main" id="{AFE66EED-DEDF-46EF-BFF9-DF38AC5318E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38c54d47be4502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66" name="Google Shape;166;p27">
            <a:extLst xmlns:a="http://schemas.openxmlformats.org/drawingml/2006/main">
              <a:ext uri="{FF2B5EF4-FFF2-40B4-BE49-F238E27FC236}">
                <a16:creationId xmlns:a16="http://schemas.microsoft.com/office/drawing/2014/main" id="{5D3886C3-059A-49C3-86C3-D539972B7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2"/>
            <a:ext cx="9144000" cy="716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67BE98D3-80E2-4C98-9F9D-07691DD9F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06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0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60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0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rPr>
              <a:t>Judge quick start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72DF6094-93E2-4F86-8051-424F3CB41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23975"/>
            <a:ext cx="8382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defRPr>
            </a:pPr>
            <a:r>
              <a:rPr sz="2025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rPr>
              <a:t>Five-minute walkthrough with artificial data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8B9F2F72-0FE2-49A5-92F2-CB6750AE3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14525"/>
            <a:ext cx="8286750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 marL="203200" indent="-101600">
              <a:spcAft>
                <a:spcPts val="1200"/>
              </a:spcAft>
              <a:buChar char="•"/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Open the product and sign in with a Google account. Check My account.</a:t>
            </a:r>
          </a:p>
          <a:p xmlns:a="http://schemas.openxmlformats.org/drawingml/2006/main">
            <a:pPr marL="203200" indent="-101600">
              <a:spcAft>
                <a:spcPts val="1200"/>
              </a:spcAft>
              <a:buChar char="•"/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Use Try a sample, then add one six-month artificial CSV and review the rows.</a:t>
            </a:r>
          </a:p>
          <a:p xmlns:a="http://schemas.openxmlformats.org/drawingml/2006/main">
            <a:pPr marL="203200" indent="-101600">
              <a:spcAft>
                <a:spcPts val="1200"/>
              </a:spcAft>
              <a:buChar char="•"/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Compare 42 entries, INR3,00,000 in and INR1,64,694 out before saving.</a:t>
            </a:r>
          </a:p>
          <a:p xmlns:a="http://schemas.openxmlformats.org/drawingml/2006/main">
            <a:pPr marL="203200" indent="-101600">
              <a:spcAft>
                <a:spcPts val="1200"/>
              </a:spcAft>
              <a:buChar char="•"/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Ask Friday about spending, or describe a goal and continue with Gemini.</a:t>
            </a:r>
          </a:p>
          <a:p xmlns:a="http://schemas.openxmlformats.org/drawingml/2006/main">
            <a:pPr marL="203200" indent="-101600">
              <a:spcAft>
                <a:spcPts val="1200"/>
              </a:spcAft>
              <a:buChar char="•"/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Review the visual roadmap. Confirm saving only if you want to keep it.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A09A087F-C3E7-44B2-9095-8D431FEC8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286250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The judge kit contains five header families for the same invented activity. Test one at a time. Bank labels describe illustrative layouts, not certified exports.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40841DEB-0F99-4E5B-B93C-A92727DD8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33925"/>
            <a:ext cx="795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Never upload real private banking records for a public demonstration.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45ED82C2-91BD-491B-A5A1-FD00FE5C5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7434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3475424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1" name="Google Shape;171;p28">
            <a:extLst xmlns:a="http://schemas.openxmlformats.org/drawingml/2006/main">
              <a:ext uri="{FF2B5EF4-FFF2-40B4-BE49-F238E27FC236}">
                <a16:creationId xmlns:a16="http://schemas.microsoft.com/office/drawing/2014/main" id="{BB604C01-ADF1-438B-B35A-514AE0FF16D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c7d62de1ab6402c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2" name="Google Shape;172;p28">
            <a:extLst xmlns:a="http://schemas.openxmlformats.org/drawingml/2006/main">
              <a:ext uri="{FF2B5EF4-FFF2-40B4-BE49-F238E27FC236}">
                <a16:creationId xmlns:a16="http://schemas.microsoft.com/office/drawing/2014/main" id="{2E630C5D-A089-4563-824D-8F4D005FB42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4ae2802297410e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1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832177520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2026-10-18T17:25:05.4420000Z</dcterms:created>
  <dcterms:modified xsi:type="dcterms:W3CDTF">2026-10-18T17:25:05.4420000Z</dcterms:modified>
</coreProperties>
</file>