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b91e2d4d6748ca" /><Relationship Type="http://schemas.openxmlformats.org/officeDocument/2006/relationships/extended-properties" Target="/docProps/app.xml" Id="Ra9a35f4c59c34d1a" /><Relationship Type="http://schemas.openxmlformats.org/officeDocument/2006/relationships/officeDocument" Target="/ppt/presentation.xml" Id="R9cb16b960b5e40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c7ee21d2c34c17"/>
  </p:sldMasterIdLst>
  <p:notesMasterIdLst>
    <p:notesMasterId xmlns:r="http://schemas.openxmlformats.org/officeDocument/2006/relationships" r:id="R14b5ba0454884c81"/>
  </p:notesMasterIdLst>
  <p:sldIdLst>
    <p:sldId xmlns:r="http://schemas.openxmlformats.org/officeDocument/2006/relationships" id="256" r:id="R10f87408135a463c"/>
    <p:sldId xmlns:r="http://schemas.openxmlformats.org/officeDocument/2006/relationships" id="257" r:id="Rf0f3cf3c22034f21"/>
    <p:sldId xmlns:r="http://schemas.openxmlformats.org/officeDocument/2006/relationships" id="258" r:id="R4ad24ddf68d3414f"/>
    <p:sldId xmlns:r="http://schemas.openxmlformats.org/officeDocument/2006/relationships" id="259" r:id="R3ab87477538247ab"/>
    <p:sldId xmlns:r="http://schemas.openxmlformats.org/officeDocument/2006/relationships" id="260" r:id="Ra36180e0a7fd4f10"/>
    <p:sldId xmlns:r="http://schemas.openxmlformats.org/officeDocument/2006/relationships" id="261" r:id="R7c9dc73bf6994cb5"/>
    <p:sldId xmlns:r="http://schemas.openxmlformats.org/officeDocument/2006/relationships" id="262" r:id="R48f6229075d04dc2"/>
    <p:sldId xmlns:r="http://schemas.openxmlformats.org/officeDocument/2006/relationships" id="263" r:id="Rbde27f09abba4171"/>
    <p:sldId xmlns:r="http://schemas.openxmlformats.org/officeDocument/2006/relationships" id="264" r:id="R983bc987d7844361"/>
    <p:sldId xmlns:r="http://schemas.openxmlformats.org/officeDocument/2006/relationships" id="265" r:id="R96e1c3b049604a6a"/>
    <p:sldId xmlns:r="http://schemas.openxmlformats.org/officeDocument/2006/relationships" id="266" r:id="R85c7150e58594739"/>
    <p:sldId xmlns:r="http://schemas.openxmlformats.org/officeDocument/2006/relationships" id="267" r:id="R732c660dce6941a0"/>
    <p:sldId xmlns:r="http://schemas.openxmlformats.org/officeDocument/2006/relationships" id="268" r:id="Rd09c227d16494d91"/>
    <p:sldId xmlns:r="http://schemas.openxmlformats.org/officeDocument/2006/relationships" id="269" r:id="R86abc7f0b5a4465a"/>
    <p:sldId xmlns:r="http://schemas.openxmlformats.org/officeDocument/2006/relationships" id="270" r:id="Rb153928c699c4114"/>
    <p:sldId xmlns:r="http://schemas.openxmlformats.org/officeDocument/2006/relationships" id="271" r:id="R3e7d7a32023c4e33"/>
  </p:sldIdLst>
  <p:sldSz cx="9144000" cy="51435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8779a559754253" /><Relationship Type="http://schemas.openxmlformats.org/officeDocument/2006/relationships/slideMaster" Target="/ppt/slideMasters/slideMaster1.xml" Id="R5ac7ee21d2c34c17" /><Relationship Type="http://schemas.openxmlformats.org/officeDocument/2006/relationships/notesMaster" Target="/ppt/notesMasters/notesMaster1.xml" Id="R14b5ba0454884c81" /><Relationship Type="http://schemas.openxmlformats.org/officeDocument/2006/relationships/presProps" Target="/ppt/presProps.xml" Id="R45b6f3f9df20468b" /><Relationship Type="http://schemas.openxmlformats.org/officeDocument/2006/relationships/viewProps" Target="/ppt/viewProps.xml" Id="Ra4e9aa082a7242f5" /><Relationship Type="http://schemas.openxmlformats.org/officeDocument/2006/relationships/tableStyles" Target="/ppt/tableStyles.xml" Id="R30f4e08997334c49" /><Relationship Type="http://schemas.openxmlformats.org/officeDocument/2006/relationships/slide" Target="/ppt/slides/slide1.xml" Id="R10f87408135a463c" /><Relationship Type="http://schemas.openxmlformats.org/officeDocument/2006/relationships/slide" Target="/ppt/slides/slide2.xml" Id="Rf0f3cf3c22034f21" /><Relationship Type="http://schemas.openxmlformats.org/officeDocument/2006/relationships/slide" Target="/ppt/slides/slide3.xml" Id="R4ad24ddf68d3414f" /><Relationship Type="http://schemas.openxmlformats.org/officeDocument/2006/relationships/slide" Target="/ppt/slides/slide4.xml" Id="R3ab87477538247ab" /><Relationship Type="http://schemas.openxmlformats.org/officeDocument/2006/relationships/slide" Target="/ppt/slides/slide5.xml" Id="Ra36180e0a7fd4f10" /><Relationship Type="http://schemas.openxmlformats.org/officeDocument/2006/relationships/slide" Target="/ppt/slides/slide6.xml" Id="R7c9dc73bf6994cb5" /><Relationship Type="http://schemas.openxmlformats.org/officeDocument/2006/relationships/slide" Target="/ppt/slides/slide7.xml" Id="R48f6229075d04dc2" /><Relationship Type="http://schemas.openxmlformats.org/officeDocument/2006/relationships/slide" Target="/ppt/slides/slide8.xml" Id="Rbde27f09abba4171" /><Relationship Type="http://schemas.openxmlformats.org/officeDocument/2006/relationships/slide" Target="/ppt/slides/slide9.xml" Id="R983bc987d7844361" /><Relationship Type="http://schemas.openxmlformats.org/officeDocument/2006/relationships/slide" Target="/ppt/slides/slide10.xml" Id="R96e1c3b049604a6a" /><Relationship Type="http://schemas.openxmlformats.org/officeDocument/2006/relationships/slide" Target="/ppt/slides/slide11.xml" Id="R85c7150e58594739" /><Relationship Type="http://schemas.openxmlformats.org/officeDocument/2006/relationships/slide" Target="/ppt/slides/slide12.xml" Id="R732c660dce6941a0" /><Relationship Type="http://schemas.openxmlformats.org/officeDocument/2006/relationships/slide" Target="/ppt/slides/slide13.xml" Id="Rd09c227d16494d91" /><Relationship Type="http://schemas.openxmlformats.org/officeDocument/2006/relationships/slide" Target="/ppt/slides/slide14.xml" Id="R86abc7f0b5a4465a" /><Relationship Type="http://schemas.openxmlformats.org/officeDocument/2006/relationships/slide" Target="/ppt/slides/slide15.xml" Id="Rb153928c699c4114" /><Relationship Type="http://schemas.openxmlformats.org/officeDocument/2006/relationships/slide" Target="/ppt/slides/slide16.xml" Id="R3e7d7a32023c4e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336735c36e473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09b0b699844386" /><Relationship Type="http://schemas.openxmlformats.org/officeDocument/2006/relationships/notesMaster" Target="/ppt/notesMasters/notesMaster1.xml" Id="Rcac66db831764a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ba65f183c44197" /><Relationship Type="http://schemas.openxmlformats.org/officeDocument/2006/relationships/notesMaster" Target="/ppt/notesMasters/notesMaster1.xml" Id="R1fa2b9ec93bd47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5e55a378f34e04" /><Relationship Type="http://schemas.openxmlformats.org/officeDocument/2006/relationships/notesMaster" Target="/ppt/notesMasters/notesMaster1.xml" Id="R7e70a76b15954b7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1ae2ba07da4561" /><Relationship Type="http://schemas.openxmlformats.org/officeDocument/2006/relationships/notesMaster" Target="/ppt/notesMasters/notesMaster1.xml" Id="R98090b95fd0c48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aa5642a93d4ca9" /><Relationship Type="http://schemas.openxmlformats.org/officeDocument/2006/relationships/notesMaster" Target="/ppt/notesMasters/notesMaster1.xml" Id="R365af6df1d8e4b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17c118d9ee4c3c" /><Relationship Type="http://schemas.openxmlformats.org/officeDocument/2006/relationships/notesMaster" Target="/ppt/notesMasters/notesMaster1.xml" Id="Re448522e0a6740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6173f1802e44b1a" /><Relationship Type="http://schemas.openxmlformats.org/officeDocument/2006/relationships/notesMaster" Target="/ppt/notesMasters/notesMaster1.xml" Id="Rea62bb39cf024cd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da5a22374064b33" /><Relationship Type="http://schemas.openxmlformats.org/officeDocument/2006/relationships/notesMaster" Target="/ppt/notesMasters/notesMaster1.xml" Id="Rf7d7e2ff206241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03a0ef6cda445b" /><Relationship Type="http://schemas.openxmlformats.org/officeDocument/2006/relationships/notesMaster" Target="/ppt/notesMasters/notesMaster1.xml" Id="R01700c0d7912462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146b837281546ca" /><Relationship Type="http://schemas.openxmlformats.org/officeDocument/2006/relationships/notesMaster" Target="/ppt/notesMasters/notesMaster1.xml" Id="R6511068d877c49a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bb85264f6748eb" /><Relationship Type="http://schemas.openxmlformats.org/officeDocument/2006/relationships/notesMaster" Target="/ppt/notesMasters/notesMaster1.xml" Id="R8336178e4f6045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35290b221f04792" /><Relationship Type="http://schemas.openxmlformats.org/officeDocument/2006/relationships/notesMaster" Target="/ppt/notesMasters/notesMaster1.xml" Id="Rf0e870d389dc44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ac2256197114856" /><Relationship Type="http://schemas.openxmlformats.org/officeDocument/2006/relationships/notesMaster" Target="/ppt/notesMasters/notesMaster1.xml" Id="R8d7ba9006920448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6b353bf379d49fe" /><Relationship Type="http://schemas.openxmlformats.org/officeDocument/2006/relationships/notesMaster" Target="/ppt/notesMasters/notesMaster1.xml" Id="R8c22f71a3ab44a5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92c8e7ad3204b50" /><Relationship Type="http://schemas.openxmlformats.org/officeDocument/2006/relationships/notesMaster" Target="/ppt/notesMasters/notesMaster1.xml" Id="Rcb67bf869fc04d7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89b12b141674ada" /><Relationship Type="http://schemas.openxmlformats.org/officeDocument/2006/relationships/notesMaster" Target="/ppt/notesMasters/notesMaster1.xml" Id="R14df1a64cb9b47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Registered team name must match the final Hack2skill roster. Project title and team name are separate.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Official template instruction retained. The organiser master remains unchanged.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Screenshot: docs/images and local 0.39.0 demonstration, artificial data. This is an implemented screen, not a proposed mockup.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Architecture: https://github.com/Santxsh27/financial-friday/blob/main/ARCHITECTURE_GUIDE.md . Cloud Tasks is a separate legacy journal-only recovery path, outside this consumer diagram. Firebase is not used.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Configured runtime: gemini-3.5-flash-lite, Gemini TTS gemini-2.5-flash-tts. Model availability and trial quota remain operational dependencies.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optional cost section gives the cost model and implemented controls, not a provider quote. Current provider pricing must be checked before a production budget. No billing data or private credit balance is disclosed.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Example inputs: monthly income INR50000, living costs excluding debt INR30000, debt INR0, liquid savings INR70000, protected reserve INR50000. Goal INR120000 in12months. Integer paise arithmetic rounds the monthly step upward. Sources: judge-kit/README.md and docs/FINAL_POLISH_0390.md.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Counts are v0.39.0 release evidence. The 39-case dataset is authored synthetic review-candidate ground truth, not independently validated fraud labels. FPR is case-level. Eight isolated acceptance calls are additional to a canonical general-question and TTS browser check. Do not infer product accuracy from test counts.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participant is creating the video separately. The dashboard supplied on18October requires3–4minutes and takes precedence over the older3-minute template label. Add the final public videoURL here before the final submission if available. Official requirements: https://aibuildercup.com/themes.html 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Judge guide https://financial-friday-web-171681243260.asia-south1.run.app/assets/friday-judge-guide.html . Public samples https://github.com/Santxsh27/financial-friday/tree/main/judge-kit . Sample sha and controls appear in judge-kit/manifest.json.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Financial Friday v0.39.0. Source: https://github.com/Santxsh27/financial-friday/blob/main/README.md ; release evidence: https://github.com/Santxsh27/financial-friday/blob/main/docs/CURRENT_RELEASE.json ; https://github.com/Santxsh27/financial-friday/blob/main/docs/FINAL_POLISH_0390.md . Evidence checked 18 October 2026. All displayed financial examples are artificial. No bank integration or guaranteed financial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0af47cc020428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63460c836e41c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4b3e3528ee46a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99fc4e7f4d45a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c48f0324ad403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a1bc454ca3493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56e8018dc24ab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8b68657739435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4c5459f8c24df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560a0cf2464f7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8654abacfa4161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D86A2B04-E1D7-4672-BBD1-2ED5450100AB}"/>
              </a:ext>
            </a:extLst>
          </p:cNvPr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700D9676-48FA-43C0-A327-B884769D6CA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B6A8A17A-6BD5-4234-8F50-704C866F21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4C9A4F21-F8CF-447A-A4AF-6EFEA94D554D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CB284492-776B-46B2-B4CE-6B4C0A0D85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 type="tx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109EDCE1-B369-4AAE-A8AF-61E9D52A750C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E8634F05-5903-437C-8E7C-84E8EA7D14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E864B08C-9FE9-4D0E-AB66-3AD970C351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 type="twoColTx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E622D5ED-2024-477F-AFCD-8D6452994B88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1B826FCF-D7EF-497D-81EB-720D377A2D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2FC29F33-68B7-46B7-A916-7035A6ED3DF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01B627EA-53D2-4A5B-96E6-2A9FA3991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AE21253E-B99E-4A0C-96C5-8E3714CB4147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45C4082D-0016-4F68-AB8D-6207C2EAE3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9D671EEE-5D5B-466F-8AD7-836C3D1CFFA7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937E675B-A496-4F10-9045-FC958B1AF0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259D788D-BD51-47AF-BC5F-CDF07CC980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3EF9F911-EF32-4061-AD7E-60228E1F2974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F2FC9DA6-BCD1-49BF-9749-0299D24042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D0249554-1624-4596-9C39-90CCA7E2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414DC930-450A-4516-992C-37A892C826C5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BA41C374-B534-48D1-9813-B94AB3F6FCE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69465A11-0663-4DDB-B8AA-9F2B4A220D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53FC7DD8-BB2B-4EAD-966B-341305D3C7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8EA01A42-73DF-49FC-93D6-CA3639E7F8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B7578B01-A7E6-4BD1-A086-E582095E9D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D1CFE41D-09EA-4491-A86B-86239B36A1CB}"/>
              </a:ext>
            </a:extLst>
          </p:cNvPr>
          <p:cNvSpPr>
            <a:spLocks xmlns:a="http://schemas.openxmlformats.org/drawingml/2006/main" noGrp="1"/>
          </p:cNvSpPr>
          <p:nvPr>
            <p:ph type="title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EA928388-08C9-46DD-A713-3548032CEC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99316ADC-5519-46F4-87BB-61405AED1A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21500D23-11C8-45C4-BD67-A16B0289C5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5e2548347447df" /><Relationship Type="http://schemas.openxmlformats.org/officeDocument/2006/relationships/slideLayout" Target="/ppt/slideLayouts/slideLayout1.xml" Id="R3ec5049798fe47c5" /><Relationship Type="http://schemas.openxmlformats.org/officeDocument/2006/relationships/slideLayout" Target="/ppt/slideLayouts/slideLayout2.xml" Id="Rfc11ffc5247546b4" /><Relationship Type="http://schemas.openxmlformats.org/officeDocument/2006/relationships/slideLayout" Target="/ppt/slideLayouts/slideLayout3.xml" Id="R5e30ded6ff584d1c" /><Relationship Type="http://schemas.openxmlformats.org/officeDocument/2006/relationships/slideLayout" Target="/ppt/slideLayouts/slideLayout4.xml" Id="Rdb4e235436b945c4" /><Relationship Type="http://schemas.openxmlformats.org/officeDocument/2006/relationships/slideLayout" Target="/ppt/slideLayouts/slideLayout5.xml" Id="R0c324ef857b04c3d" /><Relationship Type="http://schemas.openxmlformats.org/officeDocument/2006/relationships/slideLayout" Target="/ppt/slideLayouts/slideLayout6.xml" Id="R1c728a70013f4f37" /><Relationship Type="http://schemas.openxmlformats.org/officeDocument/2006/relationships/slideLayout" Target="/ppt/slideLayouts/slideLayout7.xml" Id="R75ddff947f7b4559" /><Relationship Type="http://schemas.openxmlformats.org/officeDocument/2006/relationships/slideLayout" Target="/ppt/slideLayouts/slideLayout8.xml" Id="Ra07344390ced4a44" /><Relationship Type="http://schemas.openxmlformats.org/officeDocument/2006/relationships/slideLayout" Target="/ppt/slideLayouts/slideLayout9.xml" Id="Rd961991e81cc4981" /><Relationship Type="http://schemas.openxmlformats.org/officeDocument/2006/relationships/slideLayout" Target="/ppt/slideLayouts/slideLayout10.xml" Id="R76d03862a06c488a" /><Relationship Type="http://schemas.openxmlformats.org/officeDocument/2006/relationships/slideLayout" Target="/ppt/slideLayouts/slideLayout11.xml" Id="R5eb95af53b7e4b38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0EFCBB53-B41E-44F3-8E6A-C549651C410D}"/>
              </a:ext>
            </a:extLst>
          </p:cNvPr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E848B7C7-CAFD-4EFE-BE6D-4E3A16A35A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F20CAF77-BCA6-47CD-80D9-82D4B92B45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c5049798fe47c5"/>
    <p:sldLayoutId xmlns:r="http://schemas.openxmlformats.org/officeDocument/2006/relationships" id="2147483650" r:id="Rfc11ffc5247546b4"/>
    <p:sldLayoutId xmlns:r="http://schemas.openxmlformats.org/officeDocument/2006/relationships" id="2147483651" r:id="R5e30ded6ff584d1c"/>
    <p:sldLayoutId xmlns:r="http://schemas.openxmlformats.org/officeDocument/2006/relationships" id="2147483652" r:id="Rdb4e235436b945c4"/>
    <p:sldLayoutId xmlns:r="http://schemas.openxmlformats.org/officeDocument/2006/relationships" id="2147483653" r:id="R0c324ef857b04c3d"/>
    <p:sldLayoutId xmlns:r="http://schemas.openxmlformats.org/officeDocument/2006/relationships" id="2147483654" r:id="R1c728a70013f4f37"/>
    <p:sldLayoutId xmlns:r="http://schemas.openxmlformats.org/officeDocument/2006/relationships" id="2147483655" r:id="R75ddff947f7b4559"/>
    <p:sldLayoutId xmlns:r="http://schemas.openxmlformats.org/officeDocument/2006/relationships" id="2147483656" r:id="Ra07344390ced4a44"/>
    <p:sldLayoutId xmlns:r="http://schemas.openxmlformats.org/officeDocument/2006/relationships" id="2147483657" r:id="Rd961991e81cc4981"/>
    <p:sldLayoutId xmlns:r="http://schemas.openxmlformats.org/officeDocument/2006/relationships" id="2147483658" r:id="R76d03862a06c488a"/>
    <p:sldLayoutId xmlns:r="http://schemas.openxmlformats.org/officeDocument/2006/relationships" id="2147483659" r:id="R5eb95af53b7e4b38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1d02795b84e62" /><Relationship Type="http://schemas.openxmlformats.org/officeDocument/2006/relationships/image" Target="/ppt/media/image.png" Id="Rb3a7151b04e04f88" /><Relationship Type="http://schemas.openxmlformats.org/officeDocument/2006/relationships/image" Target="/ppt/media/image2.png" Id="R73438b77274d430b" /><Relationship Type="http://schemas.openxmlformats.org/officeDocument/2006/relationships/notesSlide" Target="/ppt/notesSlides/notesSlide1.xml" Id="R1246f4931b914f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57d9e3c6c4323" /><Relationship Type="http://schemas.openxmlformats.org/officeDocument/2006/relationships/image" Target="/ppt/media/image2.png" Id="Ra26db897f1c644cd" /><Relationship Type="http://schemas.openxmlformats.org/officeDocument/2006/relationships/image" Target="/ppt/media/image3.png" Id="R6b06937c098a4e24" /><Relationship Type="http://schemas.openxmlformats.org/officeDocument/2006/relationships/notesSlide" Target="/ppt/notesSlides/notesSlide2.xml" Id="Rf6425cdde64846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a44de4acb43b3" /><Relationship Type="http://schemas.openxmlformats.org/officeDocument/2006/relationships/image" Target="/ppt/media/image4.png" Id="R31de7831db674f81" /><Relationship Type="http://schemas.openxmlformats.org/officeDocument/2006/relationships/image" Target="/ppt/media/image5.png" Id="Rdcf8fa4c39d5496a" /><Relationship Type="http://schemas.openxmlformats.org/officeDocument/2006/relationships/notesSlide" Target="/ppt/notesSlides/notesSlide3.xml" Id="R35d9eaf658f047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ec476158240a8" /><Relationship Type="http://schemas.openxmlformats.org/officeDocument/2006/relationships/image" Target="/ppt/media/image2.png" Id="R13edbe2ccfda426c" /><Relationship Type="http://schemas.openxmlformats.org/officeDocument/2006/relationships/image" Target="/ppt/media/image4.png" Id="R63a4ab69d12d48e8" /><Relationship Type="http://schemas.openxmlformats.org/officeDocument/2006/relationships/notesSlide" Target="/ppt/notesSlides/notesSlide4.xml" Id="R0d88e19e4ee542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93758743e94026" /><Relationship Type="http://schemas.openxmlformats.org/officeDocument/2006/relationships/image" Target="/ppt/media/image2.png" Id="R230ef9ad497c461d" /><Relationship Type="http://schemas.openxmlformats.org/officeDocument/2006/relationships/image" Target="/ppt/media/image4.png" Id="R7b0c471cfa954439" /><Relationship Type="http://schemas.openxmlformats.org/officeDocument/2006/relationships/notesSlide" Target="/ppt/notesSlides/notesSlide5.xml" Id="R8d055290246245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f6cb9297a14196" /><Relationship Type="http://schemas.openxmlformats.org/officeDocument/2006/relationships/image" Target="/ppt/media/image2.png" Id="Rb0d25e490178454b" /><Relationship Type="http://schemas.openxmlformats.org/officeDocument/2006/relationships/image" Target="/ppt/media/image4.png" Id="Re7b7872647bf4741" /><Relationship Type="http://schemas.openxmlformats.org/officeDocument/2006/relationships/notesSlide" Target="/ppt/notesSlides/notesSlide6.xml" Id="Rb7ae67d5a26747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fc5ba91fa4240" /><Relationship Type="http://schemas.openxmlformats.org/officeDocument/2006/relationships/image" Target="/ppt/media/image2.png" Id="R3f3fd22fb8834222" /><Relationship Type="http://schemas.openxmlformats.org/officeDocument/2006/relationships/image" Target="/ppt/media/image4.png" Id="R8a199f5a4e934f50" /><Relationship Type="http://schemas.openxmlformats.org/officeDocument/2006/relationships/image" Target="/ppt/media/image.jpeg" Id="R043340919c98400a" /><Relationship Type="http://schemas.openxmlformats.org/officeDocument/2006/relationships/notesSlide" Target="/ppt/notesSlides/notesSlide7.xml" Id="R85b224997bc647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c3c0775ac84750" /><Relationship Type="http://schemas.openxmlformats.org/officeDocument/2006/relationships/image" Target="/ppt/media/image2.png" Id="Rdb3ab2de32864d3b" /><Relationship Type="http://schemas.openxmlformats.org/officeDocument/2006/relationships/image" Target="/ppt/media/image4.png" Id="Racf1fcfe5268497c" /><Relationship Type="http://schemas.openxmlformats.org/officeDocument/2006/relationships/notesSlide" Target="/ppt/notesSlides/notesSlide8.xml" Id="R2ff9e9670a2444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65ac4b51214d74" /><Relationship Type="http://schemas.openxmlformats.org/officeDocument/2006/relationships/image" Target="/ppt/media/image2.png" Id="Rdaeb1b478bce4013" /><Relationship Type="http://schemas.openxmlformats.org/officeDocument/2006/relationships/image" Target="/ppt/media/image4.png" Id="Rba2581661c06488f" /><Relationship Type="http://schemas.openxmlformats.org/officeDocument/2006/relationships/notesSlide" Target="/ppt/notesSlides/notesSlide9.xml" Id="R6dfa692d7b3f46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11c73fb6f4997" /><Relationship Type="http://schemas.openxmlformats.org/officeDocument/2006/relationships/image" Target="/ppt/media/image2.png" Id="R5b714f4b9af54b16" /><Relationship Type="http://schemas.openxmlformats.org/officeDocument/2006/relationships/image" Target="/ppt/media/image4.png" Id="Ra4932098ac0b4042" /><Relationship Type="http://schemas.openxmlformats.org/officeDocument/2006/relationships/notesSlide" Target="/ppt/notesSlides/notesSlide10.xml" Id="R61ce5c94bc8a40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7e48a9bcf464d" /><Relationship Type="http://schemas.openxmlformats.org/officeDocument/2006/relationships/image" Target="/ppt/media/image2.png" Id="Rc154c62b78f04db5" /><Relationship Type="http://schemas.openxmlformats.org/officeDocument/2006/relationships/image" Target="/ppt/media/image4.png" Id="R80aa524fd3a64442" /><Relationship Type="http://schemas.openxmlformats.org/officeDocument/2006/relationships/image" Target="/ppt/media/image2.jpeg" Id="Rf5786dc7e59d4cd6" /><Relationship Type="http://schemas.openxmlformats.org/officeDocument/2006/relationships/notesSlide" Target="/ppt/notesSlides/notesSlide11.xml" Id="R76046e2bf0bb43c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7e1b1ff44498d" /><Relationship Type="http://schemas.openxmlformats.org/officeDocument/2006/relationships/image" Target="/ppt/media/image2.png" Id="R47484e6e009a4f49" /><Relationship Type="http://schemas.openxmlformats.org/officeDocument/2006/relationships/image" Target="/ppt/media/image4.png" Id="Re953540ee6414941" /><Relationship Type="http://schemas.openxmlformats.org/officeDocument/2006/relationships/notesSlide" Target="/ppt/notesSlides/notesSlide12.xml" Id="R13c34661ce204f9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cae09de054a95" /><Relationship Type="http://schemas.openxmlformats.org/officeDocument/2006/relationships/image" Target="/ppt/media/image2.png" Id="R84bec60d90b246cb" /><Relationship Type="http://schemas.openxmlformats.org/officeDocument/2006/relationships/image" Target="/ppt/media/image4.png" Id="R58a8180c2ae4484c" /><Relationship Type="http://schemas.openxmlformats.org/officeDocument/2006/relationships/notesSlide" Target="/ppt/notesSlides/notesSlide13.xml" Id="Rbde5eccb665f43b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fcb37639764a88" /><Relationship Type="http://schemas.openxmlformats.org/officeDocument/2006/relationships/image" Target="/ppt/media/image2.png" Id="R2a54ba5807664a95" /><Relationship Type="http://schemas.openxmlformats.org/officeDocument/2006/relationships/image" Target="/ppt/media/image4.png" Id="R7b77831553f34604" /><Relationship Type="http://schemas.openxmlformats.org/officeDocument/2006/relationships/hyperlink" Target="https://github.com/Santxsh27/financial-friday" TargetMode="External" Id="R0a79f529f63e4757" /><Relationship Type="http://schemas.openxmlformats.org/officeDocument/2006/relationships/hyperlink" Target="https://financial-friday-web-171681243260.asia-south1.run.app/#home" TargetMode="External" Id="R60918cd8d6c94815" /><Relationship Type="http://schemas.openxmlformats.org/officeDocument/2006/relationships/hyperlink" Target="https://financial-friday-web-171681243260.asia-south1.run.app/assets/friday-judge-guide.html" TargetMode="External" Id="Rde510ac259d74b8b" /><Relationship Type="http://schemas.openxmlformats.org/officeDocument/2006/relationships/notesSlide" Target="/ppt/notesSlides/notesSlide14.xml" Id="R23a3d8121d83499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124952de24263" /><Relationship Type="http://schemas.openxmlformats.org/officeDocument/2006/relationships/image" Target="/ppt/media/image2.png" Id="R19a9c1f408dd44d1" /><Relationship Type="http://schemas.openxmlformats.org/officeDocument/2006/relationships/image" Target="/ppt/media/image4.png" Id="Rf5dbd79fb4984b38" /><Relationship Type="http://schemas.openxmlformats.org/officeDocument/2006/relationships/notesSlide" Target="/ppt/notesSlides/notesSlide15.xml" Id="Rdb6998554fae4f7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7433300ab4fef" /><Relationship Type="http://schemas.openxmlformats.org/officeDocument/2006/relationships/image" Target="/ppt/media/image2.png" Id="R6c411bacac6247e2" /><Relationship Type="http://schemas.openxmlformats.org/officeDocument/2006/relationships/image" Target="/ppt/media/image6.png" Id="Ra6eba92c05bf406f" /><Relationship Type="http://schemas.openxmlformats.org/officeDocument/2006/relationships/notesSlide" Target="/ppt/notesSlides/notesSlide16.xml" Id="R514b1a69a64149b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B102BEC8-D15F-4479-8199-191E8152B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886075"/>
            <a:ext cx="862965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>
              <a:spcAft>
                <a:spcPts val="1400"/>
              </a:spcAft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Team Details</a:t>
            </a:r>
          </a:p>
          <a:p xmlns:a="http://schemas.openxmlformats.org/drawingml/2006/main"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Team name: Vaultkeepers</a:t>
            </a:r>
          </a:p>
          <a:p xmlns:a="http://schemas.openxmlformats.org/drawingml/2006/main"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Team leader name: Santosh Ramesh</a:t>
            </a:r>
          </a:p>
          <a:p xmlns:a="http://schemas.openxmlformats.org/drawingml/2006/main"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Problem Statement: BFSI: Intelligent Risk, Fraud &amp; Financial Experiences</a:t>
            </a:r>
          </a:p>
          <a:p xmlns:a="http://schemas.openxmlformats.org/drawingml/2006/main">
            <a: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Solution: Financial Friday</a:t>
            </a:r>
          </a:p>
        </p:txBody>
      </p:sp>
      <p:pic>
        <p:nvPic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E5061F6C-E24F-4132-A730-4948B3AEF8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a7151b04e04f8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FC9BA43B-43C3-4CE4-9451-5C92139CDE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438b77274d430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6888023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1" name="Google Shape;61;p14">
            <a:extLst xmlns:a="http://schemas.openxmlformats.org/drawingml/2006/main">
              <a:ext uri="{FF2B5EF4-FFF2-40B4-BE49-F238E27FC236}">
                <a16:creationId xmlns:a16="http://schemas.microsoft.com/office/drawing/2014/main" id="{ACFEEB6C-6C48-4A31-83AA-61232D9E66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6db897f1c644c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2" name="Google Shape;62;p14">
            <a:extLst xmlns:a="http://schemas.openxmlformats.org/drawingml/2006/main">
              <a:ext uri="{FF2B5EF4-FFF2-40B4-BE49-F238E27FC236}">
                <a16:creationId xmlns:a16="http://schemas.microsoft.com/office/drawing/2014/main" id="{AE941CD0-98C4-44D3-B0C8-B815108A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C6C5A8F4-9D6E-45F3-9DD3-3A1A5FE5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2475" y="1968750"/>
            <a:ext cx="3311400" cy="12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Note:</a:t>
            </a:r>
            <a: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 Please download this template to make your edits and submit the final version.</a:t>
            </a:r>
            <a:b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</a:br>
            <a:b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</a:br>
            <a: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5F0A2A2C-D3CA-4718-809A-8887E4F752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6937c098a4e2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4203" y="1194675"/>
            <a:ext cx="3604250" cy="26217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  <a:effectLst xmlns:a="http://schemas.openxmlformats.org/drawingml/2006/main"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921686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69;p15">
            <a:extLst xmlns:a="http://schemas.openxmlformats.org/drawingml/2006/main">
              <a:ext uri="{FF2B5EF4-FFF2-40B4-BE49-F238E27FC236}">
                <a16:creationId xmlns:a16="http://schemas.microsoft.com/office/drawing/2014/main" id="{94C11B72-15AA-400B-A032-16179FB5B5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de7831db674f8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C1914997-5FD7-40FA-870E-B4F13CF6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0FC70BCC-651F-422E-97D6-BC2B27FF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750FF45-274E-4556-AF58-949F0803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04925"/>
            <a:ext cx="552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25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Financial Friday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F23010D-B334-4432-9B82-2599604D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885950"/>
            <a:ext cx="5381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9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rPr>
              <a:t>A financial buddy that turns statement history into a plan you can follow.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4DAFE83-C02F-421E-B357-A39216B5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90825"/>
            <a:ext cx="53816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People can see past transactions, yet still struggle to decide what they can afford next. Friday connects reviewed history to a conversation about their next goal.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FB73869-3F95-4E59-A6BA-C733C8DD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95725"/>
            <a:ext cx="5334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650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One supported statement. One conversation. A visual cash roadmap with clear assumptions.</a:t>
            </a:r>
          </a:p>
        </p:txBody>
      </p:sp>
      <p:pic>
        <p:nvPic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511C636-9BB0-48F3-96DB-33A2221757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f8fa4c39d5496a"/>
          <a:stretch xmlns:a="http://schemas.openxmlformats.org/drawingml/2006/main"/>
        </p:blipFill>
        <p:spPr>
          <a:xfrm xmlns:a="http://schemas.openxmlformats.org/drawingml/2006/main">
            <a:off x="6143625" y="1666875"/>
            <a:ext cx="2476500" cy="2476500"/>
          </a:xfrm>
          <a:prstGeom xmlns:a="http://schemas.openxmlformats.org/drawingml/2006/main" prst="rect">
            <a:avLst/>
          </a:prstGeom>
        </p:spPr>
      </p:pic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8A6568C-04D7-4006-A30E-A7DFF491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India-first financial assistance. No bank credentials or payment authority.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240D89F-2FDF-4D38-A334-CA30D433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81773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B63332D7-A4A5-4359-B4A9-BEB834352A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edbe2ccfda426c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A17211EB-D4DB-4121-9F4C-22211EE888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4ab69d12d48e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DE8163EC-7C21-4BF7-8210-F29FB16F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71D72137-36FA-41F5-8EFF-594E8164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</a:endParaRP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EE9BA81-7D9C-409E-B9D0-91A55DCD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3350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How different is it from existing ideas?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725FF85-6D38-430E-BE46-F5B8F293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76400"/>
            <a:ext cx="836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Friday joins reviewed statement explanations and conversational goal planning in one private workspace. Exact code checks each visual cash plan before the user saves it.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4F7AB2F-63CB-4101-9305-56E76C3A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28875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How will it solve the problem?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C6A547C-3AA1-47B6-BB5E-0A391C64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71775"/>
            <a:ext cx="836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A supported import organises transaction history. The user confirms budget facts in chat, then Friday tests the goal and its alternatives against that same budget.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D510800-0AC5-404A-9F53-4752661A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62350"/>
            <a:ext cx="819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USP of the proposed solution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C52CC39-F6CE-4CD7-AB59-4CBD79132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05250"/>
            <a:ext cx="836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Gemini handles language and documents. An independent INR calculation engine preserves the reserve, debt commitments and every monthly rupee. Users can inspect the assumptions.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B98DFBB-3C42-4D96-89A1-5EDAA80E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Combination and execution are the differentiation. No world-first or patent claim.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95E27AE-AF33-481B-9C5F-982742F7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490989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FEA868DD-D511-4508-83D7-E2799808C3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0ef9ad497c461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3558ED9B-7037-4362-96B3-225181BB05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0c471cfa95443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43F8FF6B-96C6-4BC2-99FA-9657DB09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B433120F-F513-4580-B4F9-FEA8C863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3E1403E-DCFB-4EA1-9D2E-23886878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8267700" cy="3114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Supported PDF/CSV statements with preview, source checks and reviewed categories.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Spending charts, transaction references and candidates for the user to review.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Chat-led purchase, savings and emergency-reserve goals with missing-fact questions.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Exact allocations, dated checkpoints, pressure scenarios and feasible alternatives.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Private saved roadmap, self-reported savings updates and Undo.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Optional Google voice turns and attributed public research, with explicit controls.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23264CF-87B1-4F4F-A110-27F9D61F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Current consumer journey: statements, money overview, goals and Ask Friday.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FF506F1-DD7B-4389-9DFD-0BDF765A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2955873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A974CE6-1071-4FDB-98AF-CFFC599F5258}"/>
              </a:ext>
            </a:extLst>
          </p:cNvPr>
          <p:cNvCxnSpPr>
            <a:stCxn xmlns:a="http://schemas.openxmlformats.org/drawingml/2006/main" id="102" idx="1"/>
            <a:endCxn xmlns:a="http://schemas.openxmlformats.org/drawingml/2006/main" id="101" idx="3"/>
          </p:cNvCxnSpPr>
          <p:nvPr/>
        </p:nvCxnSpPr>
        <p:spPr>
          <a:xfrm xmlns:a="http://schemas.openxmlformats.org/drawingml/2006/main" flipH="1">
            <a:off x="2828925" y="32956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DFD8E7C-3DB0-4B83-A8CC-928DC2046219}"/>
              </a:ext>
            </a:extLst>
          </p:cNvPr>
          <p:cNvCxnSpPr>
            <a:stCxn xmlns:a="http://schemas.openxmlformats.org/drawingml/2006/main" id="103" idx="1"/>
            <a:endCxn xmlns:a="http://schemas.openxmlformats.org/drawingml/2006/main" id="102" idx="3"/>
          </p:cNvCxnSpPr>
          <p:nvPr/>
        </p:nvCxnSpPr>
        <p:spPr>
          <a:xfrm xmlns:a="http://schemas.openxmlformats.org/drawingml/2006/main" flipH="1">
            <a:off x="5800725" y="32956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93AC678-75EB-49B4-8934-7665B564E50A}"/>
              </a:ext>
            </a:extLst>
          </p:cNvPr>
          <p:cNvCxnSpPr>
            <a:stCxn xmlns:a="http://schemas.openxmlformats.org/drawingml/2006/main" id="98" idx="2"/>
            <a:endCxn xmlns:a="http://schemas.openxmlformats.org/drawingml/2006/main" id="103" idx="0"/>
          </p:cNvCxnSpPr>
          <p:nvPr/>
        </p:nvCxnSpPr>
        <p:spPr>
          <a:xfrm xmlns:a="http://schemas.openxmlformats.org/drawingml/2006/main">
            <a:off x="7539038" y="2124075"/>
            <a:ext cx="0" cy="81915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9720D6C-CA35-4FB3-9A44-6385B2747E9D}"/>
              </a:ext>
            </a:extLst>
          </p:cNvPr>
          <p:cNvCxnSpPr>
            <a:stCxn xmlns:a="http://schemas.openxmlformats.org/drawingml/2006/main" id="97" idx="3"/>
            <a:endCxn xmlns:a="http://schemas.openxmlformats.org/drawingml/2006/main" id="98" idx="1"/>
          </p:cNvCxnSpPr>
          <p:nvPr/>
        </p:nvCxnSpPr>
        <p:spPr>
          <a:xfrm xmlns:a="http://schemas.openxmlformats.org/drawingml/2006/main">
            <a:off x="5800725" y="17716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58313F5-0957-4055-B9F2-EC1A0E03F9DB}"/>
              </a:ext>
            </a:extLst>
          </p:cNvPr>
          <p:cNvCxnSpPr>
            <a:stCxn xmlns:a="http://schemas.openxmlformats.org/drawingml/2006/main" id="96" idx="3"/>
            <a:endCxn xmlns:a="http://schemas.openxmlformats.org/drawingml/2006/main" id="97" idx="1"/>
          </p:cNvCxnSpPr>
          <p:nvPr/>
        </p:nvCxnSpPr>
        <p:spPr>
          <a:xfrm xmlns:a="http://schemas.openxmlformats.org/drawingml/2006/main">
            <a:off x="2828925" y="1771650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pic>
        <p:nvPic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E528D56D-B4AF-4998-902C-F598CAECF1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d25e490178454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3" name="Google Shape;93;p18">
            <a:extLst xmlns:a="http://schemas.openxmlformats.org/drawingml/2006/main">
              <a:ext uri="{FF2B5EF4-FFF2-40B4-BE49-F238E27FC236}">
                <a16:creationId xmlns:a16="http://schemas.microsoft.com/office/drawing/2014/main" id="{10D07761-C448-4F14-A5C4-C25FB3A895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7872647bf474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8BEC3398-09AC-461E-AE8F-371E852F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30735458-E50A-4A53-BEB2-44463788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4BEDD6B-A6EE-4E4E-A7BB-AF113570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19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1. Add a supported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PDF or CSV statement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264A2A6-8CA2-43AB-B59C-8ED2A468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19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2. Review extracted rows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or confirm missing facts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07ECD17-D72E-4ACA-AAF1-7C74C4BC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419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7F6EE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3. Save reviewed history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with explicit consent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976B458-C6D0-4796-823B-4E847D99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943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7F6EE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6. Save one roadmap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and report real savings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E3E30F3-BE37-4406-A33F-22616648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43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5. Inspect charts, dates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and pressure scenarios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E7B7F27-EEC8-416D-B05F-4AF8126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43225"/>
            <a:ext cx="2466975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4. Ask Friday for help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using permitted context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2E420EA-0221-429C-A4F1-DBE1CCC7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00500"/>
            <a:ext cx="83153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rPr>
              <a:t>AI interprets the request. Exact code checks the result. A failed source check or missing fact returns to review.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93DEDBD-0F95-43CD-B832-9E856EB9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A user can plan a goal without importing a statement. No money moves.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9AA22B5-E9BD-4A9B-ACFA-DBFC05D2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0293846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0" name="Google Shape;100;p19">
            <a:extLst xmlns:a="http://schemas.openxmlformats.org/drawingml/2006/main">
              <a:ext uri="{FF2B5EF4-FFF2-40B4-BE49-F238E27FC236}">
                <a16:creationId xmlns:a16="http://schemas.microsoft.com/office/drawing/2014/main" id="{3A4597B4-BCB8-4E1A-9F5C-95E120A741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f3fd22fb8834222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1" name="Google Shape;101;p19">
            <a:extLst xmlns:a="http://schemas.openxmlformats.org/drawingml/2006/main">
              <a:ext uri="{FF2B5EF4-FFF2-40B4-BE49-F238E27FC236}">
                <a16:creationId xmlns:a16="http://schemas.microsoft.com/office/drawing/2014/main" id="{B585AD6F-8C93-4753-9C03-70F6F49ABC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199f5a4e934f5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073BFE16-DA99-45A7-B29A-69B28190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B1EC134F-EBCE-43A8-A220-90301C8C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729C867-9C33-4030-94F0-ED4EBF35D3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340919c98400a"/>
          <a:stretch xmlns:a="http://schemas.openxmlformats.org/drawingml/2006/main"/>
        </p:blipFill>
        <p:spPr>
          <a:xfrm xmlns:a="http://schemas.openxmlformats.org/drawingml/2006/main">
            <a:off x="365654" y="1333500"/>
            <a:ext cx="5926667" cy="3333750"/>
          </a:xfrm>
          <a:prstGeom xmlns:a="http://schemas.openxmlformats.org/drawingml/2006/main" prst="rect">
            <a:avLst/>
          </a:prstGeom>
        </p:spPr>
      </p:pic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09D939F-0A56-4D20-9597-4F598631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40970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Implemented UI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C5CD28B-6892-4858-884F-CD0F9EF0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809750"/>
            <a:ext cx="2143125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Clear starting actions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Persistent Friday chat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Visible voice controls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Account and privacy menu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56A76D0-1E82-4183-8030-E58DBC65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Actual local product screen. Artificial workspace only.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52233A2-18E0-43F3-9BCF-0F5D8070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7186099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6ACC0E9-FF65-4BCD-94F5-6EF77C42D6EB}"/>
              </a:ext>
            </a:extLst>
          </p:cNvPr>
          <p:cNvCxnSpPr>
            <a:stCxn xmlns:a="http://schemas.openxmlformats.org/drawingml/2006/main" id="114" idx="2"/>
            <a:endCxn xmlns:a="http://schemas.openxmlformats.org/drawingml/2006/main" id="121" idx="0"/>
          </p:cNvCxnSpPr>
          <p:nvPr/>
        </p:nvCxnSpPr>
        <p:spPr>
          <a:xfrm xmlns:a="http://schemas.openxmlformats.org/drawingml/2006/main">
            <a:off x="5791200" y="2343150"/>
            <a:ext cx="1966913" cy="8667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A2344007-B2E7-4F1B-82E8-B4C701209967}"/>
              </a:ext>
            </a:extLst>
          </p:cNvPr>
          <p:cNvCxnSpPr>
            <a:stCxn xmlns:a="http://schemas.openxmlformats.org/drawingml/2006/main" id="121" idx="1"/>
            <a:endCxn xmlns:a="http://schemas.openxmlformats.org/drawingml/2006/main" id="120" idx="3"/>
          </p:cNvCxnSpPr>
          <p:nvPr/>
        </p:nvCxnSpPr>
        <p:spPr>
          <a:xfrm xmlns:a="http://schemas.openxmlformats.org/drawingml/2006/main" flipH="1">
            <a:off x="6096000" y="3633788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A1544061-6CAE-49C2-94DD-2960D281E5C7}"/>
              </a:ext>
            </a:extLst>
          </p:cNvPr>
          <p:cNvCxnSpPr>
            <a:stCxn xmlns:a="http://schemas.openxmlformats.org/drawingml/2006/main" id="119" idx="3"/>
            <a:endCxn xmlns:a="http://schemas.openxmlformats.org/drawingml/2006/main" id="120" idx="1"/>
          </p:cNvCxnSpPr>
          <p:nvPr/>
        </p:nvCxnSpPr>
        <p:spPr>
          <a:xfrm xmlns:a="http://schemas.openxmlformats.org/drawingml/2006/main">
            <a:off x="2743200" y="3633788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EEDEE70-A9B9-452E-BEBD-F4BA26783C16}"/>
              </a:ext>
            </a:extLst>
          </p:cNvPr>
          <p:cNvCxnSpPr>
            <a:stCxn xmlns:a="http://schemas.openxmlformats.org/drawingml/2006/main" id="114" idx="2"/>
            <a:endCxn xmlns:a="http://schemas.openxmlformats.org/drawingml/2006/main" id="119" idx="0"/>
          </p:cNvCxnSpPr>
          <p:nvPr/>
        </p:nvCxnSpPr>
        <p:spPr>
          <a:xfrm xmlns:a="http://schemas.openxmlformats.org/drawingml/2006/main" flipH="1">
            <a:off x="1552575" y="2343150"/>
            <a:ext cx="4238625" cy="8667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9D2ECC3-5946-4C85-8B8E-FB2E040B1377}"/>
              </a:ext>
            </a:extLst>
          </p:cNvPr>
          <p:cNvCxnSpPr>
            <a:stCxn xmlns:a="http://schemas.openxmlformats.org/drawingml/2006/main" id="114" idx="3"/>
            <a:endCxn xmlns:a="http://schemas.openxmlformats.org/drawingml/2006/main" id="115" idx="1"/>
          </p:cNvCxnSpPr>
          <p:nvPr/>
        </p:nvCxnSpPr>
        <p:spPr>
          <a:xfrm xmlns:a="http://schemas.openxmlformats.org/drawingml/2006/main">
            <a:off x="6753225" y="1976438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7C7979F-5B63-423F-A830-84BDAEA00507}"/>
              </a:ext>
            </a:extLst>
          </p:cNvPr>
          <p:cNvCxnSpPr>
            <a:stCxn xmlns:a="http://schemas.openxmlformats.org/drawingml/2006/main" id="113" idx="3"/>
            <a:endCxn xmlns:a="http://schemas.openxmlformats.org/drawingml/2006/main" id="114" idx="1"/>
          </p:cNvCxnSpPr>
          <p:nvPr/>
        </p:nvCxnSpPr>
        <p:spPr>
          <a:xfrm xmlns:a="http://schemas.openxmlformats.org/drawingml/2006/main">
            <a:off x="4314825" y="1976438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cxnSp>
        <p:nvCxn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764ED97-986D-4FB9-A400-12939E65B13C}"/>
              </a:ext>
            </a:extLst>
          </p:cNvPr>
          <p:cNvCxnSpPr>
            <a:stCxn xmlns:a="http://schemas.openxmlformats.org/drawingml/2006/main" id="112" idx="3"/>
            <a:endCxn xmlns:a="http://schemas.openxmlformats.org/drawingml/2006/main" id="113" idx="1"/>
          </p:cNvCxnSpPr>
          <p:nvPr/>
        </p:nvCxnSpPr>
        <p:spPr>
          <a:xfrm xmlns:a="http://schemas.openxmlformats.org/drawingml/2006/main">
            <a:off x="1990725" y="1976438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6844BB"/>
            </a:solidFill>
            <a:tailEnd type="arrow" w="med" len="med"/>
          </a:ln>
        </p:spPr>
      </p:cxnSp>
      <p:pic>
        <p:nvPicPr>
          <p:cNvPr id="108" name="Google Shape;108;p20">
            <a:extLst xmlns:a="http://schemas.openxmlformats.org/drawingml/2006/main">
              <a:ext uri="{FF2B5EF4-FFF2-40B4-BE49-F238E27FC236}">
                <a16:creationId xmlns:a16="http://schemas.microsoft.com/office/drawing/2014/main" id="{57F6E958-D94E-449D-BF6F-DB145D7750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3ab2de32864d3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9" name="Google Shape;109;p20">
            <a:extLst xmlns:a="http://schemas.openxmlformats.org/drawingml/2006/main">
              <a:ext uri="{FF2B5EF4-FFF2-40B4-BE49-F238E27FC236}">
                <a16:creationId xmlns:a16="http://schemas.microsoft.com/office/drawing/2014/main" id="{94516AB8-88B3-4EF9-936D-9E691C7D32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f1fcfe5268497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1C37C748-CC7C-4DF0-961E-BCB052CB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EFCDCF7B-ADBC-4564-B67F-46DFEB8D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6A72412E-1D0F-4070-A5F0-86C24B59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09725"/>
            <a:ext cx="1628775" cy="733425"/>
          </a:xfrm>
          <a:prstGeom xmlns:a="http://schemas.openxmlformats.org/drawingml/2006/main" prst="roundRect">
            <a:avLst>
              <a:gd name="adj" fmla="val 12987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Browser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Charts, chat and voice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5208CF3-4CA2-4451-B0A6-4CCEA692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609725"/>
            <a:ext cx="1866900" cy="733425"/>
          </a:xfrm>
          <a:prstGeom xmlns:a="http://schemas.openxmlformats.org/drawingml/2006/main" prst="roundRect">
            <a:avLst>
              <a:gd name="adj" fmla="val 12987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Google IAP sign-in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Cloud Run web gateway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8B16847-314D-427D-A5AC-65FB905C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1609725"/>
            <a:ext cx="1924050" cy="733425"/>
          </a:xfrm>
          <a:prstGeom xmlns:a="http://schemas.openxmlformats.org/drawingml/2006/main" prst="roundRect">
            <a:avLst>
              <a:gd name="adj" fmla="val 12987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Private Cloud Run API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FastAPI / Pydantic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496D2F81-5A63-4BE0-945F-84A2D48C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09725"/>
            <a:ext cx="1571625" cy="733425"/>
          </a:xfrm>
          <a:prstGeom xmlns:a="http://schemas.openxmlformats.org/drawingml/2006/main" prst="roundRect">
            <a:avLst>
              <a:gd name="adj" fmla="val 12987"/>
            </a:avLst>
          </a:prstGeom>
          <a:solidFill xmlns:a="http://schemas.openxmlformats.org/drawingml/2006/main">
            <a:srgbClr val="E7F6EE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Firestore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Private workspace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F210344-4C5B-4960-B15C-B1BDF9AF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09925"/>
            <a:ext cx="2381250" cy="847725"/>
          </a:xfrm>
          <a:prstGeom xmlns:a="http://schemas.openxmlformats.org/drawingml/2006/main" prst="roundRect">
            <a:avLst>
              <a:gd name="adj" fmla="val 11236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Gemini on Vertex AI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Interpretation, chat, voice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Google Search grounding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E6F9928-4F63-4F72-B896-B617FBDA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09925"/>
            <a:ext cx="2762250" cy="847725"/>
          </a:xfrm>
          <a:prstGeom xmlns:a="http://schemas.openxmlformats.org/drawingml/2006/main" prst="roundRect">
            <a:avLst>
              <a:gd name="adj" fmla="val 11236"/>
            </a:avLst>
          </a:prstGeom>
          <a:solidFill xmlns:a="http://schemas.openxmlformats.org/drawingml/2006/main">
            <a:srgbClr val="E7F6EE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Checks within the private API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Evidence, INR, consent, revisions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Visual preview before save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B31367C2-A76D-45B2-912F-28CDF6CF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09925"/>
            <a:ext cx="2066925" cy="847725"/>
          </a:xfrm>
          <a:prstGeom xmlns:a="http://schemas.openxmlformats.org/drawingml/2006/main" prst="roundRect">
            <a:avLst>
              <a:gd name="adj" fmla="val 11236"/>
            </a:avLst>
          </a:prstGeom>
          <a:solidFill xmlns:a="http://schemas.openxmlformats.org/drawingml/2006/main">
            <a:srgbClr val="F1ECFC"/>
          </a:solidFill>
          <a:ln xmlns:a="http://schemas.openxmlformats.org/drawingml/2006/main" w="9525">
            <a:solidFill>
              <a:srgbClr val="D8D9E1"/>
            </a:solidFill>
          </a:ln>
        </p:spPr>
        <p:txBody>
          <a:bodyPr xmlns:a="http://schemas.openxmlformats.org/drawingml/2006/main" lIns="95250" tIns="95250" rIns="95250" bIns="95250" anchor="ctr">
            <a:noAutofit/>
          </a:bodyPr>
          <a:lstStyle xmlns:a="http://schemas.openxmlformats.org/drawingml/2006/main">
            <a:def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Document AI</a:t>
            </a:r>
          </a:p>
          <a:p xmlns:a="http://schemas.openxmlformats.org/drawingml/2006/main">
            <a:pPr algn="ctr">
              <a:def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275">
                <a:solidFill>
                  <a:srgbClr val="17182A"/>
                </a:solidFill>
                <a:latin typeface="Google Sans Flex Medium"/>
                <a:ea typeface="Google Sans Flex Medium"/>
                <a:cs typeface="Google Sans Flex Medium"/>
              </a:rPr>
              <a:t>Supported scanned PDFs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5717825-A1EA-413C-B591-1BE00764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33875"/>
            <a:ext cx="8382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Reviewed history and goals persist per user. Private totals reach Gemini only when the user permits them.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493ED2F-F924-486B-8EB9-C78E20ED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Public research excludes private statement data. Raw uploads are not archived.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FD91396-DC76-4464-BF4C-1461A4AA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0418724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6" name="Google Shape;116;p21">
            <a:extLst xmlns:a="http://schemas.openxmlformats.org/drawingml/2006/main">
              <a:ext uri="{FF2B5EF4-FFF2-40B4-BE49-F238E27FC236}">
                <a16:creationId xmlns:a16="http://schemas.microsoft.com/office/drawing/2014/main" id="{F773D6F2-5198-48A5-A32C-31DA55C213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eb1b478bce4013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7" name="Google Shape;117;p21">
            <a:extLst xmlns:a="http://schemas.openxmlformats.org/drawingml/2006/main">
              <a:ext uri="{FF2B5EF4-FFF2-40B4-BE49-F238E27FC236}">
                <a16:creationId xmlns:a16="http://schemas.microsoft.com/office/drawing/2014/main" id="{26A946DD-C5F7-442C-8F23-2C25CE0C80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2581661c06488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F87B364C-D82C-4E8F-8C08-D5FCA58B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E91C58AD-4725-45BE-BD6E-51A1D9DA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graphicFrame>
        <p:nvGraphicFrame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DE757A1A-E295-49BB-919C-E5144D5956BB}"/>
              </a:ext>
            </a:extLst>
          </p:cNvPr>
          <p:cNvGraphicFramePr/>
          <p:nvPr/>
        </p:nvGraphicFramePr>
        <p:xfrm>
          <a:off xmlns:a="http://schemas.openxmlformats.org/drawingml/2006/main" x="361950" y="1333500"/>
          <a:ext xmlns:a="http://schemas.openxmlformats.org/drawingml/2006/main" cx="84201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6134100"/>
              </a:tblGrid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Technology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Implemented purpose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Run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Web gateway and private Python API, deployed in asia-south1.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 on Vertex AI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PDF interpretation, structured goal intake, grounded chat and voice.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Firestore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Tenant-scoped reviewed rows, preferences, roadmap state and revisions.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Document AI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OCR path for supported scanned statement PDFs.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IAM / IAP / Secret Manager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Google identity, service boundaries and server-side configuration.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Build / Artifact Registry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Container builds and immutable deployment images.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388144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HTML / CSS / JS / Python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Responsive UI, FastAPI, Pydantic, local Docker and SQLite.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595C97E-4E9D-4DD7-B69F-2315501A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Gemini models power the AI. Firebase Hosting/Auth, BigQuery and model fine-tuning are not used.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F445733-D718-48FF-8433-4A3A2714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4250376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4" name="Google Shape;124;p22">
            <a:extLst xmlns:a="http://schemas.openxmlformats.org/drawingml/2006/main">
              <a:ext uri="{FF2B5EF4-FFF2-40B4-BE49-F238E27FC236}">
                <a16:creationId xmlns:a16="http://schemas.microsoft.com/office/drawing/2014/main" id="{A2E08608-D639-4D1E-BC77-C8C2DE0950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b714f4b9af54b16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5" name="Google Shape;125;p22">
            <a:extLst xmlns:a="http://schemas.openxmlformats.org/drawingml/2006/main">
              <a:ext uri="{FF2B5EF4-FFF2-40B4-BE49-F238E27FC236}">
                <a16:creationId xmlns:a16="http://schemas.microsoft.com/office/drawing/2014/main" id="{1A5F8ED7-6C2E-458B-B8BC-66AF52EC2C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932098ac0b404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FBAD6D83-F688-4778-BF50-648D4EAE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63AFD14E-2D0E-4B30-98DC-B5AC0251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C1C934A-C6D9-4B0E-8E50-838B64DE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62075"/>
            <a:ext cx="84296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210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Usage-based prototype on a Google Cloud trial</a:t>
            </a:r>
          </a:p>
        </p:txBody>
      </p:sp>
      <p:graphicFrame>
        <p:nvGraphicFrame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FD7F7F5-A635-4D1E-937E-EDB7425F2328}"/>
              </a:ext>
            </a:extLst>
          </p:cNvPr>
          <p:cNvGraphicFramePr/>
          <p:nvPr/>
        </p:nvGraphicFramePr>
        <p:xfrm>
          <a:off xmlns:a="http://schemas.openxmlformats.org/drawingml/2006/main" x="361950" y="1952625"/>
          <a:ext xmlns:a="http://schemas.openxmlformats.org/drawingml/2006/main" cx="8420100" cy="2028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43275"/>
                <a:gridCol w="5076825"/>
              </a:tblGrid>
              <a:tr h="405765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Cost driver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Current control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</a:tr>
              <a:tr h="405765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PDF, chat, research and voice calls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Explicit opt-in, request limits and bounded context.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Known-format CSV analysis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Deterministic parsing and calculations need zero model calls.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405765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Run and Firestore operations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Serverless services and bounded workspace sizes.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Repeated speech playback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Page-memory replay avoids another model call when cached.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</a:tbl>
          </a:graphicData>
        </a:graphic>
      </p:graphicFrame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885CDA5-BC0D-4356-BB74-7EDC691C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229100"/>
            <a:ext cx="8401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A production per-user estimate still needs measured traffic, tokens, document pages and retention. Trial credits do not make the service permanently free.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A1C339E-E7AF-4B91-97BF-85326319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No fabricated spend, savings or cost-per-user claim.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AC79F51-A99C-4E60-8AD6-2129C6A3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74203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2" name="Google Shape;132;p23">
            <a:extLst xmlns:a="http://schemas.openxmlformats.org/drawingml/2006/main">
              <a:ext uri="{FF2B5EF4-FFF2-40B4-BE49-F238E27FC236}">
                <a16:creationId xmlns:a16="http://schemas.microsoft.com/office/drawing/2014/main" id="{DD2C6964-2DE1-4CCE-8F22-53CCB92253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154c62b78f04db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3" name="Google Shape;133;p23">
            <a:extLst xmlns:a="http://schemas.openxmlformats.org/drawingml/2006/main">
              <a:ext uri="{FF2B5EF4-FFF2-40B4-BE49-F238E27FC236}">
                <a16:creationId xmlns:a16="http://schemas.microsoft.com/office/drawing/2014/main" id="{FE930594-9E4A-49C4-AAC6-FEC62E56DE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a524fd3a6444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6D62F52C-6BC6-4C5B-92EF-2820F739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7E88970D-64B4-4CA3-A96D-9C0C5CE8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pic>
        <p:nvPic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611B7A75-B3AB-45B6-ACFA-1FEC918FEF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786dc7e59d4cd6"/>
          <a:srcRect xmlns:a="http://schemas.openxmlformats.org/drawingml/2006/main" l="0" t="24800" r="0" b="43000"/>
          <a:stretch xmlns:a="http://schemas.openxmlformats.org/drawingml/2006/main"/>
        </p:blipFill>
        <p:spPr>
          <a:xfrm xmlns:a="http://schemas.openxmlformats.org/drawingml/2006/main">
            <a:off x="361950" y="1381125"/>
            <a:ext cx="4191000" cy="3219450"/>
          </a:xfrm>
          <a:prstGeom xmlns:a="http://schemas.openxmlformats.org/drawingml/2006/main" prst="rect">
            <a:avLst/>
          </a:prstGeom>
        </p:spPr>
      </p:pic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CA9183C-4521-49D7-B843-A09CCEBF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381125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A plan the user can inspect</a:t>
            </a:r>
          </a:p>
        </p:txBody>
      </p:sp>
      <p:graphicFrame>
        <p:nvGraphicFrame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49DAC319-7BD8-4242-844F-68C32208A150}"/>
              </a:ext>
            </a:extLst>
          </p:cNvPr>
          <p:cNvGraphicFramePr/>
          <p:nvPr/>
        </p:nvGraphicFramePr>
        <p:xfrm>
          <a:off xmlns:a="http://schemas.openxmlformats.org/drawingml/2006/main" x="4857750" y="1819275"/>
          <a:ext xmlns:a="http://schemas.openxmlformats.org/drawingml/2006/main" cx="3886200" cy="2076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00325"/>
                <a:gridCol w="1285875"/>
              </a:tblGrid>
              <a:tr h="415290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Artificial travel goal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INR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</a:tr>
              <a:tr h="415290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Target in 12 months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1,20,000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Starting pot after reserve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20,000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415290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Monthly saving step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8,333.34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5290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Protected cash reserve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50,000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</a:tbl>
          </a:graphicData>
        </a:graphic>
      </p:graphicFrame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1A8E304D-CE39-4AFE-8F00-4245A91E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95750"/>
            <a:ext cx="38862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Friday also shows pressure cases and budget alternatives. Progress changes only when the user reports additional savings.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CA93FD9-1B76-4375-AF8A-EC2D87D7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Actual product output. Scenario values are not forecasts or verified bank balances.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61F092B-84F3-4729-8728-76F41D98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7317808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0" name="Google Shape;140;p24">
            <a:extLst xmlns:a="http://schemas.openxmlformats.org/drawingml/2006/main">
              <a:ext uri="{FF2B5EF4-FFF2-40B4-BE49-F238E27FC236}">
                <a16:creationId xmlns:a16="http://schemas.microsoft.com/office/drawing/2014/main" id="{7E0E8FF1-A5EA-43F7-B4C8-7C4782C5D5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484e6e009a4f49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1" name="Google Shape;141;p24">
            <a:extLst xmlns:a="http://schemas.openxmlformats.org/drawingml/2006/main">
              <a:ext uri="{FF2B5EF4-FFF2-40B4-BE49-F238E27FC236}">
                <a16:creationId xmlns:a16="http://schemas.microsoft.com/office/drawing/2014/main" id="{AA585BAB-5F9F-4818-9CA1-9F025C5CEA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53540ee641494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2347DD84-CB94-425E-8EBC-7E57B00F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2D50441F-49D7-4CFE-8837-6B5F9AB5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graphicFrame>
        <p:nvGraphicFrame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7EA9D9D-8AB8-4327-94FD-94307E13A27C}"/>
              </a:ext>
            </a:extLst>
          </p:cNvPr>
          <p:cNvGraphicFramePr/>
          <p:nvPr/>
        </p:nvGraphicFramePr>
        <p:xfrm>
          <a:off xmlns:a="http://schemas.openxmlformats.org/drawingml/2006/main" x="361950" y="1333500"/>
          <a:ext xmlns:a="http://schemas.openxmlformats.org/drawingml/2006/main" cx="8420100" cy="2638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14650"/>
                <a:gridCol w="5505450"/>
              </a:tblGrid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Evaluation scope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</a:rPr>
                        <a:t>Recorded result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T w="6668">
                      <a:solidFill>
                        <a:srgbClr val="D8D9E1"/>
                      </a:solidFill>
                      <a:prstDash val="solid"/>
                    </a:lnT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1ECFC"/>
                    </a:solidFill>
                  </a:tcPr>
                </a:tc>
              </a:tr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Native regression suite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868 run: 867 passed, 1 optional integration skipped.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Container regression suite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868 run: 818 passed, 50 environment-dependent skips.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Offline cloud tooling checks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68 passed.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Isolated real-Google acceptance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8 calls across voice, Search and goal persistence flows.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AFAFC"/>
                    </a:solidFill>
                  </a:tcPr>
                </a:tc>
              </a:tr>
              <a:tr h="439738"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Authored 39-case review benchmark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D9E1"/>
                      </a:solidFill>
                      <a:prstDash val="solid"/>
                    </a:lnL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85725" tIns="85725" rIns="85725" bIns="85725">
                      <a:noAutofit/>
                    </a:bodyPr>
                    <a:lstStyle/>
                    <a:p>
                      <a:r>
                        <a:rPr sz="1200">
                          <a:solidFill>
                            <a:srgbClr val="17182A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66.67% precision, 73.68% recall, 38.89% case-level FPR.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D9E1"/>
                      </a:solidFill>
                      <a:prstDash val="solid"/>
                    </a:lnR>
                    <a:lnB w="6668">
                      <a:solidFill>
                        <a:srgbClr val="D8D9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70A0E621-9E86-4CAB-B93B-08A25FF5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81475"/>
            <a:ext cx="840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17182A"/>
                </a:solidFill>
                <a:latin typeface="Google Sans Flex"/>
                <a:ea typeface="Google Sans Flex"/>
                <a:cs typeface="Google Sans Flex"/>
              </a:rPr>
              <a:t>Software tests establish tested behaviour, not financial efficacy. The synthetic review benchmark still has misses and false warnings. Independent real-bank validation remains open.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D8AD7F06-FDAC-4964-961C-88F7E959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Sources: CURRENT_RELEASE.json, FINAL_POLISH_0390.md and VALIDATION_HANDOFF.md in the public repository.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B3CBCF6A-0912-4ABF-930A-63B53AB1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3321645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8" name="Google Shape;148;p25">
            <a:extLst xmlns:a="http://schemas.openxmlformats.org/drawingml/2006/main">
              <a:ext uri="{FF2B5EF4-FFF2-40B4-BE49-F238E27FC236}">
                <a16:creationId xmlns:a16="http://schemas.microsoft.com/office/drawing/2014/main" id="{F41AC84B-B436-4FCF-AFD2-4D14FAB452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bec60d90b246c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A020E908-8679-4A29-B566-45FC076534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a8180c2ae4484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7515320E-57D8-45D2-B1E8-D3239FE2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19BC8E99-E0AC-437F-AD87-AFB1ADF5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380C17FC-93CB-467F-84A5-A4918D7C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620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Next validation priorities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FF74B558-0278-47B8-895F-4312E66E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790700"/>
            <a:ext cx="3943350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Independent, authorised bank-layout and explanation evaluation.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Measure task completion, incorrect guidance and warning fatigue.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Test multilingual use, accessibility and account-policy variations.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Assess consented bank integrations only through authorised partners.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8511C0A-728D-4FB4-B495-478B8E2D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362075"/>
            <a:ext cx="3933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425" b="0">
                <a:solidFill>
                  <a:srgbClr val="6844BB"/>
                </a:solidFill>
                <a:latin typeface="Google Sans Flex SemiBold"/>
                <a:ea typeface="Google Sans Flex SemiBold"/>
                <a:cs typeface="Google Sans Flex SemiBold"/>
              </a:rPr>
              <a:t>Current boundaries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9AD76558-9BAF-478D-BF4E-EC8A0A91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1790700"/>
            <a:ext cx="3857625" cy="2600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Supported INR PDF/CSV limits apply. Unknown evidence stays unknown.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No bank feeds, live balances, payment execution or automatic money recovery.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Education and cash planning exclude personalised securities trades.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42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Savings progress is self-reported. No guaranteed returns or outcomes.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E54B4C60-CAB6-428F-A344-45837356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Goal: a measured consumer pilot before claims of broad banking readiness.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2E2F2EFF-9077-4478-A71C-03CA85689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4092674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6" name="Google Shape;156;p26">
            <a:extLst xmlns:a="http://schemas.openxmlformats.org/drawingml/2006/main">
              <a:ext uri="{FF2B5EF4-FFF2-40B4-BE49-F238E27FC236}">
                <a16:creationId xmlns:a16="http://schemas.microsoft.com/office/drawing/2014/main" id="{26A34F23-F69F-4CBD-AEE6-B5D02A4D06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54ba5807664a9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7" name="Google Shape;157;p26">
            <a:extLst xmlns:a="http://schemas.openxmlformats.org/drawingml/2006/main">
              <a:ext uri="{FF2B5EF4-FFF2-40B4-BE49-F238E27FC236}">
                <a16:creationId xmlns:a16="http://schemas.microsoft.com/office/drawing/2014/main" id="{E9A810A3-56AF-41CB-85F6-1E3DC702CB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77831553f3460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73E36985-9D70-4128-9E13-4F3F0B89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7AED7845-DFA8-4DA5-8801-0DECDE93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def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defRPr>
            </a:pPr>
            <a:r>
              <a:rPr sz="160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7B83BCBA-3FED-4D75-A870-61911E0B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23975"/>
            <a:ext cx="838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GitHub Public Repository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3141E2D7-5237-43B1-99E9-598AAA41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09725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0a79f529f63e4757"/>
              </a:rPr>
              <a:t>https://github.com/Santxsh27/financial-friday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373FE028-CF64-4CAE-B003-7366C7634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105025"/>
            <a:ext cx="838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Final Product Link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515DD5CD-7606-4704-B386-0F854CA1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390775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60918cd8d6c94815"/>
              </a:rPr>
              <a:t>https://financial-friday-web-171681243260.asia-south1.run.app/#home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9FF9CD39-C0BB-4CBC-92E0-E99F21BA5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905125"/>
            <a:ext cx="842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Demo Video Link (3–4 minutes)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5DA209C4-92FE-43CA-A82D-78B7E0A3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09925"/>
            <a:ext cx="8420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Video link will be supplied separately in the submission form after recording.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2F85AB8-E783-4004-97C2-E9E1342AD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19525"/>
            <a:ext cx="838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1350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Walkthrough and artificial statement downloads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D6F12720-C54F-4120-BE79-F526C67B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05275"/>
            <a:ext cx="838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844BB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de510ac259d74b8b"/>
              </a:rPr>
              <a:t>https://financial-friday-web-171681243260.asia-south1.run.app/assets/friday-judge-guide.html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796D345B-B9F4-46B5-AE77-71C01FA5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Product requires Google sign-in. Source and judge samples are public.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05AFBA1E-41C6-4DCA-BB0A-58BE8C0F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9877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22931831-6B1D-4227-9AD2-B433BB9FCF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a9c1f408dd44d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9766D6DA-6698-4CAB-AB07-742E71066D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dbd79fb4984b3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A02F9751-4AD0-40C6-850B-0C954D6E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71872"/>
            <a:ext cx="9144000" cy="716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CF63B562-CDA3-4A6D-A3EC-A6845456D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6106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0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60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0">
                <a:solidFill>
                  <a:srgbClr val="000000"/>
                </a:solidFill>
                <a:latin typeface="Google Sans Flex"/>
                <a:ea typeface="Google Sans Flex"/>
                <a:cs typeface="Google Sans Flex"/>
              </a:rPr>
              <a:t>Judge quick start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7EAE68F0-D769-4740-AF50-C83DAFAF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23975"/>
            <a:ext cx="8382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defRPr>
            </a:pPr>
            <a:r>
              <a:rPr sz="2025" b="0">
                <a:solidFill>
                  <a:srgbClr val="17182A"/>
                </a:solidFill>
                <a:latin typeface="Google Sans Flex SemiBold"/>
                <a:ea typeface="Google Sans Flex SemiBold"/>
                <a:cs typeface="Google Sans Flex SemiBold"/>
              </a:rPr>
              <a:t>One sample. A visible result. Your own private workspace.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C491CC91-555F-438E-969B-3D17BE0C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14525"/>
            <a:ext cx="828675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Open the product and sign in with a Google account. Check My account.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Use Try a sample, then add one six-month artificial CSV and review the rows.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Compare 42 entries, INR3,00,000 in and INR1,64,694 out before saving.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Ask Friday about spending, or describe a goal and continue with Gemini.</a:t>
            </a:r>
          </a:p>
          <a:p xmlns:a="http://schemas.openxmlformats.org/drawingml/2006/main">
            <a:pPr marL="203200" indent="-101600">
              <a:spcAft>
                <a:spcPts val="1200"/>
              </a:spcAft>
              <a:buChar char="•"/>
              <a:defRPr sz="1500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Review the visual roadmap. Confirm saving only if you want to keep it.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BF6B773-A103-4082-A139-B4EEFDF3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286250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0">
                <a:solidFill>
                  <a:srgbClr val="363A4C"/>
                </a:solidFill>
                <a:latin typeface="Google Sans Flex"/>
                <a:ea typeface="Google Sans Flex"/>
                <a:cs typeface="Google Sans Flex"/>
              </a:rPr>
              <a:t>The judge kit contains five header families for the same invented activity. Test one at a time. Bank labels describe illustrative layouts, not certified exports.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4A29627-AB7F-429E-8A55-5D9D0EA0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3925"/>
            <a:ext cx="7953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Never upload real private banking records for a public demonstration.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31E693D8-A306-4CE4-B596-8BFB5124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74345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36777"/>
                </a:solidFill>
                <a:latin typeface="Google Sans Flex"/>
                <a:ea typeface="Google Sans Flex"/>
                <a:cs typeface="Google Sans Flex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3523510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04919576-557A-4C1C-AF5E-E84B32E0AD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c411bacac6247e2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BA0EBD8D-DBB4-4FC3-90AB-9B74FBE797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ba92c05bf406f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864191011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2026-10-18T15:02:52.0640000Z</dcterms:created>
  <dcterms:modified xsi:type="dcterms:W3CDTF">2026-10-18T15:02:52.0640000Z</dcterms:modified>
</coreProperties>
</file>